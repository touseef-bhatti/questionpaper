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423" r:id="rId2"/>
    <p:sldId id="499" r:id="rId3"/>
    <p:sldId id="500" r:id="rId4"/>
    <p:sldId id="501" r:id="rId5"/>
    <p:sldId id="507" r:id="rId6"/>
    <p:sldId id="502" r:id="rId7"/>
    <p:sldId id="503" r:id="rId8"/>
    <p:sldId id="532" r:id="rId9"/>
    <p:sldId id="504" r:id="rId10"/>
    <p:sldId id="505" r:id="rId11"/>
    <p:sldId id="509" r:id="rId12"/>
    <p:sldId id="506" r:id="rId13"/>
    <p:sldId id="508" r:id="rId14"/>
    <p:sldId id="521" r:id="rId15"/>
    <p:sldId id="522" r:id="rId16"/>
    <p:sldId id="523" r:id="rId17"/>
    <p:sldId id="510" r:id="rId18"/>
    <p:sldId id="513" r:id="rId19"/>
    <p:sldId id="511" r:id="rId20"/>
    <p:sldId id="512" r:id="rId21"/>
    <p:sldId id="516" r:id="rId22"/>
    <p:sldId id="517" r:id="rId23"/>
    <p:sldId id="514" r:id="rId24"/>
    <p:sldId id="515" r:id="rId25"/>
    <p:sldId id="518" r:id="rId26"/>
    <p:sldId id="519" r:id="rId27"/>
    <p:sldId id="525" r:id="rId28"/>
    <p:sldId id="526" r:id="rId29"/>
    <p:sldId id="536" r:id="rId30"/>
    <p:sldId id="527" r:id="rId31"/>
    <p:sldId id="520" r:id="rId32"/>
    <p:sldId id="528" r:id="rId33"/>
    <p:sldId id="530" r:id="rId34"/>
    <p:sldId id="531" r:id="rId35"/>
    <p:sldId id="535" r:id="rId36"/>
    <p:sldId id="533" r:id="rId37"/>
    <p:sldId id="534" r:id="rId38"/>
    <p:sldId id="52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99" autoAdjust="0"/>
    <p:restoredTop sz="93635" autoAdjust="0"/>
  </p:normalViewPr>
  <p:slideViewPr>
    <p:cSldViewPr snapToGrid="0">
      <p:cViewPr varScale="1">
        <p:scale>
          <a:sx n="102" d="100"/>
          <a:sy n="102" d="100"/>
        </p:scale>
        <p:origin x="3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amar Askari" userId="d7b9dbe47ba496c3" providerId="LiveId" clId="{3C911809-2E79-464F-B0A0-986061D02B97}"/>
    <pc:docChg chg="modSld">
      <pc:chgData name="Qamar Askari" userId="d7b9dbe47ba496c3" providerId="LiveId" clId="{3C911809-2E79-464F-B0A0-986061D02B97}" dt="2026-04-03T10:21:13.807" v="3" actId="20577"/>
      <pc:docMkLst>
        <pc:docMk/>
      </pc:docMkLst>
      <pc:sldChg chg="modNotesTx">
        <pc:chgData name="Qamar Askari" userId="d7b9dbe47ba496c3" providerId="LiveId" clId="{3C911809-2E79-464F-B0A0-986061D02B97}" dt="2026-04-03T10:21:13.807" v="3" actId="20577"/>
        <pc:sldMkLst>
          <pc:docMk/>
          <pc:sldMk cId="1237742088" sldId="510"/>
        </pc:sldMkLst>
      </pc:sldChg>
      <pc:sldChg chg="modNotesTx">
        <pc:chgData name="Qamar Askari" userId="d7b9dbe47ba496c3" providerId="LiveId" clId="{3C911809-2E79-464F-B0A0-986061D02B97}" dt="2026-04-03T10:20:50.294" v="1" actId="20577"/>
        <pc:sldMkLst>
          <pc:docMk/>
          <pc:sldMk cId="4057565903" sldId="520"/>
        </pc:sldMkLst>
      </pc:sldChg>
      <pc:sldChg chg="modNotesTx">
        <pc:chgData name="Qamar Askari" userId="d7b9dbe47ba496c3" providerId="LiveId" clId="{3C911809-2E79-464F-B0A0-986061D02B97}" dt="2026-04-03T10:20:57.801" v="2" actId="20577"/>
        <pc:sldMkLst>
          <pc:docMk/>
          <pc:sldMk cId="2033146009" sldId="526"/>
        </pc:sldMkLst>
      </pc:sldChg>
      <pc:sldChg chg="modNotesTx">
        <pc:chgData name="Qamar Askari" userId="d7b9dbe47ba496c3" providerId="LiveId" clId="{3C911809-2E79-464F-B0A0-986061D02B97}" dt="2026-04-03T10:20:41.434" v="0" actId="20577"/>
        <pc:sldMkLst>
          <pc:docMk/>
          <pc:sldMk cId="2246363982" sldId="5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77954-06E1-4EE6-9F61-DA846EE980C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E05B0-C426-4440-943C-96864C3DD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0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18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B2A3-7AB2-6042-5B52-2984CC4B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FAA6B-71CA-3DB7-C846-1756EE78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48DB9-4BE6-EA5D-D2ED-F5B38B7FA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dirty="0"/>
              <a:t>Important libraries: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Librosa</a:t>
            </a:r>
            <a:r>
              <a:rPr lang="en-US" dirty="0"/>
              <a:t>: For feature extraction, spectrograms, MFCCs.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PyDub</a:t>
            </a:r>
            <a:r>
              <a:rPr lang="en-US" dirty="0"/>
              <a:t>: For audio loading and manipulation.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torchaudio</a:t>
            </a:r>
            <a:r>
              <a:rPr lang="en-US" dirty="0"/>
              <a:t>: For advanced audio processing in </a:t>
            </a:r>
            <a:r>
              <a:rPr lang="en-US" dirty="0" err="1"/>
              <a:t>PyTorch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6ED9D-ACFA-C787-D9B6-A2490691B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39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Important</a:t>
            </a:r>
            <a:r>
              <a:rPr lang="en-US" dirty="0"/>
              <a:t> </a:t>
            </a:r>
            <a:r>
              <a:rPr lang="en-US" b="1" dirty="0"/>
              <a:t>Libraries: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OpenCV</a:t>
            </a:r>
            <a:r>
              <a:rPr lang="en-US" dirty="0"/>
              <a:t>: For image loading, manipulation, and transformations.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PIL (Pillow)</a:t>
            </a:r>
            <a:r>
              <a:rPr lang="en-US" dirty="0"/>
              <a:t>: For image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TensorFlow/</a:t>
            </a:r>
            <a:r>
              <a:rPr lang="en-US" b="1" dirty="0" err="1"/>
              <a:t>Keras</a:t>
            </a:r>
            <a:r>
              <a:rPr lang="en-US" dirty="0"/>
              <a:t>: For image preprocessing functions and augmentation.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Albumentations</a:t>
            </a:r>
            <a:r>
              <a:rPr lang="en-US" dirty="0"/>
              <a:t>: A powerful library for image augmentation.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4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Important</a:t>
            </a:r>
            <a:r>
              <a:rPr lang="en-US" dirty="0"/>
              <a:t> </a:t>
            </a:r>
            <a:r>
              <a:rPr lang="en-US" b="1" dirty="0"/>
              <a:t>Libraries: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OpenCV</a:t>
            </a:r>
            <a:r>
              <a:rPr lang="en-US" dirty="0"/>
              <a:t>: For video reading and frame extraction.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MoviePy</a:t>
            </a:r>
            <a:r>
              <a:rPr lang="en-US" dirty="0"/>
              <a:t>: For video processing and manipulation.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TensorFlow/</a:t>
            </a:r>
            <a:r>
              <a:rPr lang="en-US" b="1" dirty="0" err="1"/>
              <a:t>Keras</a:t>
            </a:r>
            <a:r>
              <a:rPr lang="en-US" dirty="0"/>
              <a:t>: For video-specific models and preprocessing.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ffmpeg</a:t>
            </a:r>
            <a:r>
              <a:rPr lang="en-US" dirty="0"/>
              <a:t>: For more advanced video manipulation.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42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Interpolation is a lightweight, local regression-like estimation</a:t>
            </a:r>
            <a:r>
              <a:rPr lang="en-US" dirty="0"/>
              <a:t>, typically without a full statistical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06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72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C238-2F40-9794-2444-F136AEA9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D03A3-1D9C-26C8-0F73-F784F984C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A5476-E3CE-1119-2273-F5392D857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Notes:</a:t>
            </a:r>
            <a:br>
              <a:rPr lang="en-US" b="1" dirty="0"/>
            </a:b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df.dropna</a:t>
            </a:r>
            <a:r>
              <a:rPr lang="en-US" dirty="0"/>
              <a:t>(thresh=3)  # Keep rows with at least 3 non-NA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Constant imputation </a:t>
            </a:r>
            <a:r>
              <a:rPr lang="en-US" dirty="0"/>
              <a:t>for numerical data can be used where NA is to show absence of the value or for categorical data we can add new category like ‘Unknown’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Group-based imputation</a:t>
            </a:r>
            <a:r>
              <a:rPr lang="en-US" dirty="0"/>
              <a:t>: You're filling in missing values by using the average (or median, or mode) from a </a:t>
            </a:r>
            <a:r>
              <a:rPr lang="en-US" b="1" dirty="0"/>
              <a:t>specific group</a:t>
            </a:r>
            <a:r>
              <a:rPr lang="en-US" dirty="0"/>
              <a:t> instead of the entire dataset.</a:t>
            </a:r>
          </a:p>
          <a:p>
            <a:pPr>
              <a:buNone/>
            </a:pPr>
            <a:r>
              <a:rPr lang="en-US" b="1" dirty="0"/>
              <a:t>Interpolation</a:t>
            </a:r>
            <a:r>
              <a:rPr lang="en-US" dirty="0"/>
              <a:t>: It’s like </a:t>
            </a:r>
            <a:r>
              <a:rPr lang="en-US" b="1" dirty="0"/>
              <a:t>connecting the dots in a straight line</a:t>
            </a:r>
            <a:r>
              <a:rPr lang="en-US" dirty="0"/>
              <a:t>. Other interpolation methods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‘	time' → if your index is datetime-based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‘	polynomial' → smooth curves (you can set degree=2 or 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‘	spline' → smooth fitting for wavy patterns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K-NN Imputation Code: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sklearn.impute</a:t>
            </a:r>
            <a:r>
              <a:rPr lang="en-US" dirty="0"/>
              <a:t> import </a:t>
            </a:r>
            <a:r>
              <a:rPr lang="en-US" dirty="0" err="1"/>
              <a:t>KNNImputer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imputer = </a:t>
            </a:r>
            <a:r>
              <a:rPr lang="en-US" dirty="0" err="1"/>
              <a:t>KNNImputer</a:t>
            </a:r>
            <a:r>
              <a:rPr lang="en-US" dirty="0"/>
              <a:t>(</a:t>
            </a:r>
            <a:r>
              <a:rPr lang="en-US" dirty="0" err="1"/>
              <a:t>n_neighbors</a:t>
            </a:r>
            <a:r>
              <a:rPr lang="en-US" dirty="0"/>
              <a:t>=5)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df_imputed</a:t>
            </a:r>
            <a:r>
              <a:rPr lang="en-US" dirty="0"/>
              <a:t> = </a:t>
            </a:r>
            <a:r>
              <a:rPr lang="en-US" dirty="0" err="1"/>
              <a:t>imputer.fit_transform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Regression-based Imputation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# Let's say 'age' is missing, and we predict it using 'salary'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train_data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['age'].</a:t>
            </a:r>
            <a:r>
              <a:rPr lang="en-US" dirty="0" err="1"/>
              <a:t>notnull</a:t>
            </a:r>
            <a:r>
              <a:rPr lang="en-US" dirty="0"/>
              <a:t>()]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test_data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['age'].</a:t>
            </a:r>
            <a:r>
              <a:rPr lang="en-US" dirty="0" err="1"/>
              <a:t>isnull</a:t>
            </a:r>
            <a:r>
              <a:rPr lang="en-US" dirty="0"/>
              <a:t>()]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train_data</a:t>
            </a:r>
            <a:r>
              <a:rPr lang="en-US" dirty="0"/>
              <a:t>[['salary']], </a:t>
            </a:r>
            <a:r>
              <a:rPr lang="en-US" dirty="0" err="1"/>
              <a:t>train_data</a:t>
            </a:r>
            <a:r>
              <a:rPr lang="en-US" dirty="0"/>
              <a:t>['age'])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predicted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test_data</a:t>
            </a:r>
            <a:r>
              <a:rPr lang="en-US" dirty="0"/>
              <a:t>[['salary']])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df.loc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['age'].</a:t>
            </a:r>
            <a:r>
              <a:rPr lang="en-US" dirty="0" err="1"/>
              <a:t>isnull</a:t>
            </a:r>
            <a:r>
              <a:rPr lang="en-US" dirty="0"/>
              <a:t>(), 'age'] = predicted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22423-E7B1-3D00-246F-32F0BEBD8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1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errors='coerce' will replace invalid values with </a:t>
            </a:r>
            <a:r>
              <a:rPr lang="en-US" dirty="0" err="1"/>
              <a:t>NaN</a:t>
            </a:r>
            <a:r>
              <a:rPr lang="en-US" dirty="0"/>
              <a:t> for numeric and </a:t>
            </a:r>
            <a:r>
              <a:rPr lang="en-US" dirty="0" err="1"/>
              <a:t>NaT</a:t>
            </a:r>
            <a:r>
              <a:rPr lang="en-US" dirty="0"/>
              <a:t> for Datetime.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astype</a:t>
            </a:r>
            <a:r>
              <a:rPr lang="en-US" dirty="0"/>
              <a:t> = assign type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7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df</a:t>
            </a:r>
            <a:r>
              <a:rPr lang="en-US" dirty="0"/>
              <a:t>['Text'] = </a:t>
            </a:r>
            <a:r>
              <a:rPr lang="en-US" dirty="0" err="1"/>
              <a:t>df</a:t>
            </a:r>
            <a:r>
              <a:rPr lang="en-US" dirty="0"/>
              <a:t>['Text'].</a:t>
            </a:r>
            <a:r>
              <a:rPr lang="en-US" dirty="0" err="1"/>
              <a:t>str.strip</a:t>
            </a:r>
            <a:r>
              <a:rPr lang="en-US" dirty="0"/>
              <a:t>()   # Removes leading/trailing spaces</a:t>
            </a:r>
          </a:p>
          <a:p>
            <a:r>
              <a:rPr lang="en-US" dirty="0" err="1"/>
              <a:t>df</a:t>
            </a:r>
            <a:r>
              <a:rPr lang="en-US" dirty="0"/>
              <a:t>['Text'] = </a:t>
            </a:r>
            <a:r>
              <a:rPr lang="en-US" dirty="0" err="1"/>
              <a:t>df</a:t>
            </a:r>
            <a:r>
              <a:rPr lang="en-US" dirty="0"/>
              <a:t>['Text'].</a:t>
            </a:r>
            <a:r>
              <a:rPr lang="en-US" dirty="0" err="1"/>
              <a:t>str.replace</a:t>
            </a:r>
            <a:r>
              <a:rPr lang="en-US" dirty="0"/>
              <a:t>(r'\s+', ' ', regex=True)   # Replaces multiple spaces with a single space</a:t>
            </a:r>
          </a:p>
          <a:p>
            <a:endParaRPr lang="en-US" dirty="0"/>
          </a:p>
          <a:p>
            <a:r>
              <a:rPr lang="en-US" b="1" dirty="0"/>
              <a:t>For Stop Words</a:t>
            </a:r>
          </a:p>
          <a:p>
            <a:r>
              <a:rPr lang="en-US" dirty="0"/>
              <a:t>from </a:t>
            </a:r>
            <a:r>
              <a:rPr lang="en-US" dirty="0" err="1"/>
              <a:t>nltk.corpus</a:t>
            </a:r>
            <a:r>
              <a:rPr lang="en-US" dirty="0"/>
              <a:t> import </a:t>
            </a:r>
            <a:r>
              <a:rPr lang="en-US" dirty="0" err="1"/>
              <a:t>stopwords</a:t>
            </a:r>
            <a:endParaRPr lang="en-US" dirty="0"/>
          </a:p>
          <a:p>
            <a:r>
              <a:rPr lang="en-US" dirty="0" err="1"/>
              <a:t>stop_words</a:t>
            </a:r>
            <a:r>
              <a:rPr lang="en-US" dirty="0"/>
              <a:t> = set(</a:t>
            </a:r>
            <a:r>
              <a:rPr lang="en-US" dirty="0" err="1"/>
              <a:t>stopwords.words</a:t>
            </a:r>
            <a:r>
              <a:rPr lang="en-US" dirty="0"/>
              <a:t>('</a:t>
            </a:r>
            <a:r>
              <a:rPr lang="en-US" dirty="0" err="1"/>
              <a:t>english</a:t>
            </a:r>
            <a:r>
              <a:rPr lang="en-US" dirty="0"/>
              <a:t>'))</a:t>
            </a:r>
          </a:p>
          <a:p>
            <a:r>
              <a:rPr lang="en-US" dirty="0" err="1"/>
              <a:t>df</a:t>
            </a:r>
            <a:r>
              <a:rPr lang="en-US" dirty="0"/>
              <a:t>['Text'] = </a:t>
            </a:r>
            <a:r>
              <a:rPr lang="en-US" dirty="0" err="1"/>
              <a:t>df</a:t>
            </a:r>
            <a:r>
              <a:rPr lang="en-US" dirty="0"/>
              <a:t>['Text'].apply(lambda x: ' '.join([word for word in </a:t>
            </a:r>
            <a:r>
              <a:rPr lang="en-US" dirty="0" err="1"/>
              <a:t>x.split</a:t>
            </a:r>
            <a:r>
              <a:rPr lang="en-US" dirty="0"/>
              <a:t>() if word not in </a:t>
            </a:r>
            <a:r>
              <a:rPr lang="en-US" dirty="0" err="1"/>
              <a:t>stop_words</a:t>
            </a:r>
            <a:r>
              <a:rPr lang="en-US" dirty="0"/>
              <a:t>]))</a:t>
            </a:r>
          </a:p>
          <a:p>
            <a:endParaRPr lang="en-US" dirty="0"/>
          </a:p>
          <a:p>
            <a:r>
              <a:rPr lang="en-US" b="1" dirty="0"/>
              <a:t>Stemming</a:t>
            </a:r>
          </a:p>
          <a:p>
            <a:r>
              <a:rPr lang="en-US" dirty="0"/>
              <a:t>from </a:t>
            </a:r>
            <a:r>
              <a:rPr lang="en-US" dirty="0" err="1"/>
              <a:t>nltk.stem</a:t>
            </a:r>
            <a:r>
              <a:rPr lang="en-US" dirty="0"/>
              <a:t> import </a:t>
            </a:r>
            <a:r>
              <a:rPr lang="en-US" dirty="0" err="1"/>
              <a:t>PorterStemmer</a:t>
            </a:r>
            <a:endParaRPr lang="en-US" dirty="0"/>
          </a:p>
          <a:p>
            <a:r>
              <a:rPr lang="en-US" dirty="0" err="1"/>
              <a:t>ps</a:t>
            </a:r>
            <a:r>
              <a:rPr lang="en-US" dirty="0"/>
              <a:t> = </a:t>
            </a:r>
            <a:r>
              <a:rPr lang="en-US" dirty="0" err="1"/>
              <a:t>PorterStemmer</a:t>
            </a:r>
            <a:r>
              <a:rPr lang="en-US" dirty="0"/>
              <a:t>()</a:t>
            </a:r>
          </a:p>
          <a:p>
            <a:r>
              <a:rPr lang="en-US" dirty="0" err="1"/>
              <a:t>df</a:t>
            </a:r>
            <a:r>
              <a:rPr lang="en-US" dirty="0"/>
              <a:t>['Text'] = </a:t>
            </a:r>
            <a:r>
              <a:rPr lang="en-US" dirty="0" err="1"/>
              <a:t>df</a:t>
            </a:r>
            <a:r>
              <a:rPr lang="en-US" dirty="0"/>
              <a:t>['Text'].apply(lambda x: ' '.join([</a:t>
            </a:r>
            <a:r>
              <a:rPr lang="en-US" dirty="0" err="1"/>
              <a:t>ps.stem</a:t>
            </a:r>
            <a:r>
              <a:rPr lang="en-US" dirty="0"/>
              <a:t>(word) for word in </a:t>
            </a:r>
            <a:r>
              <a:rPr lang="en-US" dirty="0" err="1"/>
              <a:t>x.split</a:t>
            </a:r>
            <a:r>
              <a:rPr lang="en-US" dirty="0"/>
              <a:t>()]))</a:t>
            </a:r>
          </a:p>
          <a:p>
            <a:endParaRPr lang="en-US" dirty="0"/>
          </a:p>
          <a:p>
            <a:r>
              <a:rPr lang="en-US" b="1" dirty="0"/>
              <a:t>Lemmatization</a:t>
            </a:r>
          </a:p>
          <a:p>
            <a:r>
              <a:rPr lang="en-US" dirty="0"/>
              <a:t>from </a:t>
            </a:r>
            <a:r>
              <a:rPr lang="en-US" dirty="0" err="1"/>
              <a:t>nltk.stem</a:t>
            </a:r>
            <a:r>
              <a:rPr lang="en-US" dirty="0"/>
              <a:t> import </a:t>
            </a:r>
            <a:r>
              <a:rPr lang="en-US" dirty="0" err="1"/>
              <a:t>WordNetLemmatizer</a:t>
            </a:r>
            <a:endParaRPr lang="en-US" dirty="0"/>
          </a:p>
          <a:p>
            <a:r>
              <a:rPr lang="en-US" dirty="0" err="1"/>
              <a:t>lemmatizer</a:t>
            </a:r>
            <a:r>
              <a:rPr lang="en-US" dirty="0"/>
              <a:t> = </a:t>
            </a:r>
            <a:r>
              <a:rPr lang="en-US" dirty="0" err="1"/>
              <a:t>WordNetLemmatizer</a:t>
            </a:r>
            <a:r>
              <a:rPr lang="en-US" dirty="0"/>
              <a:t>()</a:t>
            </a:r>
          </a:p>
          <a:p>
            <a:r>
              <a:rPr lang="en-US" dirty="0" err="1"/>
              <a:t>df</a:t>
            </a:r>
            <a:r>
              <a:rPr lang="en-US" dirty="0"/>
              <a:t>['Text'] = </a:t>
            </a:r>
            <a:r>
              <a:rPr lang="en-US" dirty="0" err="1"/>
              <a:t>df</a:t>
            </a:r>
            <a:r>
              <a:rPr lang="en-US" dirty="0"/>
              <a:t>['Text'].apply(lambda x: ' '.join([</a:t>
            </a:r>
            <a:r>
              <a:rPr lang="en-US" dirty="0" err="1"/>
              <a:t>lemmatizer.lemmatize</a:t>
            </a:r>
            <a:r>
              <a:rPr lang="en-US" dirty="0"/>
              <a:t>(word) for word in </a:t>
            </a:r>
            <a:r>
              <a:rPr lang="en-US" dirty="0" err="1"/>
              <a:t>x.split</a:t>
            </a:r>
            <a:r>
              <a:rPr lang="en-US" dirty="0"/>
              <a:t>()]))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95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19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034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✅ </a:t>
            </a:r>
            <a:r>
              <a:rPr lang="en-US" b="1" dirty="0"/>
              <a:t>You can keep both or choose one</a:t>
            </a:r>
            <a:r>
              <a:rPr lang="en-US" dirty="0"/>
              <a:t>, depending on the model and your analysis goals.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E05B0-C426-4440-943C-96864C3DD3F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7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6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0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2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2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9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1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69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72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896B5-A7C8-4B6D-AC6B-F8D93A0B2D0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09671-B4C7-44A7-B7DD-BDBA6639F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4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penml.org/" TargetMode="External"/><Relationship Id="rId3" Type="http://schemas.openxmlformats.org/officeDocument/2006/relationships/hyperlink" Target="https://archive.ics.uci.edu/ml/index.php" TargetMode="External"/><Relationship Id="rId7" Type="http://schemas.openxmlformats.org/officeDocument/2006/relationships/hyperlink" Target="https://www.data.gov/" TargetMode="External"/><Relationship Id="rId2" Type="http://schemas.openxmlformats.org/officeDocument/2006/relationships/hyperlink" Target="https://www.kaggle.com/datase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sropendata.com/" TargetMode="External"/><Relationship Id="rId5" Type="http://schemas.openxmlformats.org/officeDocument/2006/relationships/hyperlink" Target="https://registry.opendata.aws/" TargetMode="External"/><Relationship Id="rId10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datasetsearch.research.google.com/" TargetMode="External"/><Relationship Id="rId9" Type="http://schemas.openxmlformats.org/officeDocument/2006/relationships/hyperlink" Target="https://huggingface.co/dataset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b="1" dirty="0"/>
              <a:t>Machine Learning</a:t>
            </a:r>
            <a:br>
              <a:rPr lang="en-US" sz="4000" b="1" dirty="0"/>
            </a:br>
            <a:r>
              <a:rPr lang="en-US" sz="2800" b="1" dirty="0"/>
              <a:t>Data preparation and preprocessing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– 2 to 3 </a:t>
            </a:r>
          </a:p>
          <a:p>
            <a:endParaRPr lang="en-US" dirty="0"/>
          </a:p>
          <a:p>
            <a:pPr algn="r"/>
            <a:r>
              <a:rPr lang="en-US" dirty="0"/>
              <a:t>Instructor: Muhammad Umer Ramzan</a:t>
            </a:r>
          </a:p>
        </p:txBody>
      </p:sp>
    </p:spTree>
    <p:extLst>
      <p:ext uri="{BB962C8B-B14F-4D97-AF65-F5344CB8AC3E}">
        <p14:creationId xmlns:p14="http://schemas.microsoft.com/office/powerpoint/2010/main" val="324928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34FA-2205-7745-43A8-44A6F189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4E245-40F6-4E83-7D9D-E661BE654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different types of data used in ML</a:t>
            </a:r>
          </a:p>
          <a:p>
            <a:r>
              <a:rPr lang="en-US" dirty="0"/>
              <a:t>Explore and visualize data</a:t>
            </a:r>
          </a:p>
          <a:p>
            <a:r>
              <a:rPr lang="en-US" dirty="0"/>
              <a:t>Clean and handle missing or incorrect data</a:t>
            </a:r>
          </a:p>
          <a:p>
            <a:r>
              <a:rPr lang="en-US" dirty="0"/>
              <a:t>Encode categorical data</a:t>
            </a:r>
          </a:p>
          <a:p>
            <a:r>
              <a:rPr lang="en-US" dirty="0"/>
              <a:t>Scale numerical data</a:t>
            </a:r>
          </a:p>
          <a:p>
            <a:r>
              <a:rPr lang="en-US" dirty="0"/>
              <a:t>Split data for training and testing</a:t>
            </a:r>
          </a:p>
        </p:txBody>
      </p:sp>
    </p:spTree>
    <p:extLst>
      <p:ext uri="{BB962C8B-B14F-4D97-AF65-F5344CB8AC3E}">
        <p14:creationId xmlns:p14="http://schemas.microsoft.com/office/powerpoint/2010/main" val="3214066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084FD-1EFF-E47E-8029-9ECC1A2B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Data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6BEC9-710E-333D-9B0D-757D1A525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80% of ML project time is spent on data</a:t>
            </a:r>
          </a:p>
          <a:p>
            <a:r>
              <a:rPr lang="en-US" dirty="0"/>
              <a:t>Poor quality data leads to poor predictions</a:t>
            </a:r>
          </a:p>
          <a:p>
            <a:pPr lvl="1"/>
            <a:r>
              <a:rPr lang="en-US" dirty="0"/>
              <a:t>Bad dataset can’t be fixed with good algorithm: “</a:t>
            </a:r>
            <a:r>
              <a:rPr lang="en-US" b="1" i="1" dirty="0"/>
              <a:t>Better data beats better algorithms</a:t>
            </a:r>
            <a:r>
              <a:rPr lang="en-US" dirty="0"/>
              <a:t>” by Andrew Ng</a:t>
            </a:r>
          </a:p>
          <a:p>
            <a:r>
              <a:rPr lang="en-US" dirty="0"/>
              <a:t>What makes data poor?</a:t>
            </a:r>
          </a:p>
          <a:p>
            <a:pPr lvl="1"/>
            <a:r>
              <a:rPr lang="en-US" b="1" dirty="0"/>
              <a:t>Data bias/imbalance:</a:t>
            </a:r>
            <a:r>
              <a:rPr lang="en-US" dirty="0"/>
              <a:t> A hiring algorithm trained mostly on resumes from male candidates started </a:t>
            </a:r>
            <a:r>
              <a:rPr lang="en-US" b="1" dirty="0"/>
              <a:t>rejecting women</a:t>
            </a:r>
            <a:r>
              <a:rPr lang="en-US" dirty="0"/>
              <a:t> disproportionately.</a:t>
            </a:r>
          </a:p>
          <a:p>
            <a:pPr lvl="1"/>
            <a:r>
              <a:rPr lang="en-US" b="1" dirty="0"/>
              <a:t>Missing values/outliers/duplicates/incorrect labels:</a:t>
            </a:r>
            <a:r>
              <a:rPr lang="en-US" dirty="0"/>
              <a:t> Microsoft’s chatbot Tay started tweeting offensive messages because it learned from biased user input online within hours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Missing features:</a:t>
            </a:r>
            <a:r>
              <a:rPr lang="en-US" dirty="0"/>
              <a:t> What would the diagnosis be if the doctor were unaware of your age, while age was a crucial factor?</a:t>
            </a:r>
          </a:p>
        </p:txBody>
      </p:sp>
    </p:spTree>
    <p:extLst>
      <p:ext uri="{BB962C8B-B14F-4D97-AF65-F5344CB8AC3E}">
        <p14:creationId xmlns:p14="http://schemas.microsoft.com/office/powerpoint/2010/main" val="8501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0D6A-713A-2A6B-B179-4B2733A5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8A837-387D-8D92-4463-FB130F81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Numerical</a:t>
            </a:r>
          </a:p>
          <a:p>
            <a:pPr lvl="1"/>
            <a:r>
              <a:rPr lang="en-US" b="1" dirty="0"/>
              <a:t>Continuous</a:t>
            </a:r>
            <a:r>
              <a:rPr lang="en-US" dirty="0"/>
              <a:t>: Age, height, etc.</a:t>
            </a:r>
          </a:p>
          <a:p>
            <a:pPr lvl="1"/>
            <a:r>
              <a:rPr lang="en-US" b="1" dirty="0"/>
              <a:t>Discrete</a:t>
            </a:r>
            <a:r>
              <a:rPr lang="en-US" dirty="0"/>
              <a:t>: Number of products, number of steps, etc.</a:t>
            </a:r>
          </a:p>
          <a:p>
            <a:r>
              <a:rPr lang="en-US" dirty="0"/>
              <a:t>Categorical</a:t>
            </a:r>
          </a:p>
          <a:p>
            <a:pPr lvl="1"/>
            <a:r>
              <a:rPr lang="en-US" b="1" dirty="0"/>
              <a:t>Nominal</a:t>
            </a:r>
            <a:r>
              <a:rPr lang="en-US" dirty="0"/>
              <a:t>: Gender, Color, Country, etc. </a:t>
            </a:r>
          </a:p>
          <a:p>
            <a:pPr lvl="1"/>
            <a:r>
              <a:rPr lang="en-US" b="1" dirty="0"/>
              <a:t>Ordinal</a:t>
            </a:r>
            <a:r>
              <a:rPr lang="en-US" dirty="0"/>
              <a:t>: Categorical but with meaningful order. For example: Education level (High School, Bachelor’s, Master’s, PhD), customer satisfaction (Poor, Fair, Good, Excellent). </a:t>
            </a:r>
          </a:p>
          <a:p>
            <a:r>
              <a:rPr lang="en-US" dirty="0"/>
              <a:t>Binary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Textual: Customer reviews, articles, tweets.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Image: </a:t>
            </a:r>
            <a:r>
              <a:rPr lang="fr-FR" dirty="0" err="1"/>
              <a:t>Photographs</a:t>
            </a:r>
            <a:r>
              <a:rPr lang="fr-FR" dirty="0"/>
              <a:t>, </a:t>
            </a:r>
            <a:r>
              <a:rPr lang="fr-FR" dirty="0" err="1"/>
              <a:t>medical</a:t>
            </a:r>
            <a:r>
              <a:rPr lang="fr-FR" dirty="0"/>
              <a:t> images (X-rays, </a:t>
            </a:r>
            <a:r>
              <a:rPr lang="fr-FR" dirty="0" err="1"/>
              <a:t>MRIs</a:t>
            </a:r>
            <a:r>
              <a:rPr lang="fr-FR" dirty="0"/>
              <a:t>), satellite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Audio: </a:t>
            </a:r>
            <a:r>
              <a:rPr lang="en-US" dirty="0"/>
              <a:t>Voice commands, music, audio recordings.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Video: Surveillance footage, video clips for action recognition, facial recognition.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87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9D720-B7EF-0868-B8D4-3E415DA5E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Repositories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6ADE0-A556-45E1-230B-9A0099E43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Kaggle Datasets: </a:t>
            </a:r>
            <a:r>
              <a:rPr lang="en-US" dirty="0">
                <a:hlinkClick r:id="rId2"/>
              </a:rPr>
              <a:t>https://www.kaggle.com/datasets</a:t>
            </a:r>
            <a:r>
              <a:rPr lang="en-US" dirty="0"/>
              <a:t> </a:t>
            </a:r>
          </a:p>
          <a:p>
            <a:r>
              <a:rPr lang="en-US" b="1" dirty="0"/>
              <a:t>UCI Machine Learning Repository: </a:t>
            </a:r>
            <a:r>
              <a:rPr lang="en-US" dirty="0">
                <a:hlinkClick r:id="rId3"/>
              </a:rPr>
              <a:t>https://archive.ics.uci.edu/ml/index.php</a:t>
            </a:r>
            <a:endParaRPr lang="en-US" dirty="0"/>
          </a:p>
          <a:p>
            <a:r>
              <a:rPr lang="en-US" b="1" dirty="0"/>
              <a:t>Google Dataset Search: </a:t>
            </a:r>
            <a:r>
              <a:rPr lang="en-US" dirty="0">
                <a:hlinkClick r:id="rId4"/>
              </a:rPr>
              <a:t>https://datasetsearch.research.google.com/</a:t>
            </a:r>
            <a:r>
              <a:rPr lang="en-US" dirty="0"/>
              <a:t> </a:t>
            </a:r>
          </a:p>
          <a:p>
            <a:r>
              <a:rPr lang="en-US" b="1" dirty="0"/>
              <a:t>AWS Public Datasets: </a:t>
            </a:r>
            <a:r>
              <a:rPr lang="en-US" dirty="0">
                <a:hlinkClick r:id="rId5"/>
              </a:rPr>
              <a:t>https://registry.opendata.aws/</a:t>
            </a:r>
            <a:r>
              <a:rPr lang="en-US" dirty="0"/>
              <a:t> </a:t>
            </a:r>
          </a:p>
          <a:p>
            <a:r>
              <a:rPr lang="en-US" b="1" dirty="0"/>
              <a:t>Microsoft Research Open Data: </a:t>
            </a:r>
            <a:r>
              <a:rPr lang="en-US" dirty="0">
                <a:hlinkClick r:id="rId6"/>
              </a:rPr>
              <a:t>https://msropendata.com/</a:t>
            </a:r>
            <a:endParaRPr lang="en-US" dirty="0"/>
          </a:p>
          <a:p>
            <a:r>
              <a:rPr lang="en-US" b="1" dirty="0"/>
              <a:t>Data.gov: </a:t>
            </a:r>
            <a:r>
              <a:rPr lang="en-US" dirty="0">
                <a:hlinkClick r:id="rId7"/>
              </a:rPr>
              <a:t>https://www.data.gov/</a:t>
            </a:r>
            <a:endParaRPr lang="en-US" dirty="0"/>
          </a:p>
          <a:p>
            <a:r>
              <a:rPr lang="en-US" b="1" dirty="0" err="1"/>
              <a:t>OpenML</a:t>
            </a:r>
            <a:r>
              <a:rPr lang="en-US" b="1" dirty="0"/>
              <a:t>: </a:t>
            </a:r>
            <a:r>
              <a:rPr lang="en-US" dirty="0">
                <a:hlinkClick r:id="rId8"/>
              </a:rPr>
              <a:t>https://www.openml.org/</a:t>
            </a:r>
            <a:endParaRPr lang="en-US" dirty="0"/>
          </a:p>
          <a:p>
            <a:r>
              <a:rPr lang="en-US" b="1" dirty="0"/>
              <a:t>Hugging Face Datasets (for NLP &amp; Vision): </a:t>
            </a:r>
            <a:r>
              <a:rPr lang="en-US" dirty="0">
                <a:hlinkClick r:id="rId9"/>
              </a:rPr>
              <a:t>https://huggingface.co/datasets</a:t>
            </a:r>
            <a:r>
              <a:rPr lang="en-US" dirty="0"/>
              <a:t> </a:t>
            </a:r>
          </a:p>
          <a:p>
            <a:r>
              <a:rPr lang="en-US" b="1" dirty="0"/>
              <a:t>Papers with Code Datasets: </a:t>
            </a:r>
            <a:r>
              <a:rPr lang="en-US" dirty="0">
                <a:hlinkClick r:id="rId10"/>
              </a:rPr>
              <a:t>https://paperswithcode.com/datasets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2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7AF1-E920-F85A-72AA-ABB95041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4BEB0-9B67-BECD-2AB3-69A6BABA5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Collection</a:t>
            </a:r>
          </a:p>
          <a:p>
            <a:r>
              <a:rPr lang="en-US" dirty="0"/>
              <a:t>Data Cleaning: Missing data, duplicates, outliers, inconsistencies (typos, units, formats, etc.).</a:t>
            </a:r>
          </a:p>
          <a:p>
            <a:r>
              <a:rPr lang="en-US" dirty="0"/>
              <a:t>Data Transformation: Scaling, encoding (one-hot), binning (age groups), etc.</a:t>
            </a:r>
          </a:p>
          <a:p>
            <a:r>
              <a:rPr lang="en-US" dirty="0"/>
              <a:t>Feature engineering: Feature construction, feature selection, dimensionality reduction.</a:t>
            </a:r>
          </a:p>
          <a:p>
            <a:r>
              <a:rPr lang="en-US" dirty="0"/>
              <a:t>Data splitting: Training/Testing sets</a:t>
            </a:r>
          </a:p>
          <a:p>
            <a:r>
              <a:rPr lang="en-US" dirty="0">
                <a:solidFill>
                  <a:srgbClr val="FF0000"/>
                </a:solidFill>
              </a:rPr>
              <a:t>Data Balancing: Oversampling/under sampling</a:t>
            </a:r>
          </a:p>
          <a:p>
            <a:r>
              <a:rPr lang="en-US" dirty="0">
                <a:solidFill>
                  <a:srgbClr val="FF0000"/>
                </a:solidFill>
              </a:rPr>
              <a:t>Data Augmentation: Image (rotation, flipping, zooming, and shifting), Audio (pitch shift, time-stretching, etc.)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1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44020-31B1-A618-D86B-68439978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Text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A73D7-1B0A-01EA-5280-033EA8C0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Tokenization</a:t>
            </a:r>
          </a:p>
          <a:p>
            <a:r>
              <a:rPr lang="en-US" dirty="0">
                <a:solidFill>
                  <a:srgbClr val="FF0000"/>
                </a:solidFill>
              </a:rPr>
              <a:t>Stop-word removal</a:t>
            </a:r>
          </a:p>
          <a:p>
            <a:r>
              <a:rPr lang="en-US" dirty="0">
                <a:solidFill>
                  <a:srgbClr val="FF0000"/>
                </a:solidFill>
              </a:rPr>
              <a:t>Stemming</a:t>
            </a:r>
          </a:p>
          <a:p>
            <a:r>
              <a:rPr lang="en-US" dirty="0">
                <a:solidFill>
                  <a:srgbClr val="FF0000"/>
                </a:solidFill>
              </a:rPr>
              <a:t>Lemmatization </a:t>
            </a:r>
          </a:p>
          <a:p>
            <a:r>
              <a:rPr lang="en-US" dirty="0">
                <a:solidFill>
                  <a:srgbClr val="FF0000"/>
                </a:solidFill>
              </a:rPr>
              <a:t>Vectorization (TF-IDF)</a:t>
            </a:r>
          </a:p>
        </p:txBody>
      </p:sp>
    </p:spTree>
    <p:extLst>
      <p:ext uri="{BB962C8B-B14F-4D97-AF65-F5344CB8AC3E}">
        <p14:creationId xmlns:p14="http://schemas.microsoft.com/office/powerpoint/2010/main" val="97362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658C4-B762-DFB5-0137-B88F890A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131C-5948-0CD5-D615-9CAC5CB26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Audio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3AFB-EA29-1F93-83FA-04EAD1577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File loading</a:t>
            </a:r>
          </a:p>
          <a:p>
            <a:r>
              <a:rPr lang="en-US" dirty="0">
                <a:solidFill>
                  <a:srgbClr val="FF0000"/>
                </a:solidFill>
              </a:rPr>
              <a:t>Resampling: To ensure the audio has a consistent sample rate</a:t>
            </a:r>
          </a:p>
          <a:p>
            <a:r>
              <a:rPr lang="en-US" dirty="0">
                <a:solidFill>
                  <a:srgbClr val="FF0000"/>
                </a:solidFill>
              </a:rPr>
              <a:t>Noise Reduction: Spectral gating, etc. </a:t>
            </a:r>
          </a:p>
          <a:p>
            <a:r>
              <a:rPr lang="en-US" dirty="0">
                <a:solidFill>
                  <a:srgbClr val="FF0000"/>
                </a:solidFill>
              </a:rPr>
              <a:t>Framing/Windowing: Split the audio signal into smaller frames</a:t>
            </a:r>
          </a:p>
          <a:p>
            <a:r>
              <a:rPr lang="en-US" dirty="0">
                <a:solidFill>
                  <a:srgbClr val="FF0000"/>
                </a:solidFill>
              </a:rPr>
              <a:t>Feature Extraction: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MFCC (Mel-Frequency Cepstral Coefficients), Spectrogram, Mel-Spectrogram</a:t>
            </a:r>
          </a:p>
          <a:p>
            <a:r>
              <a:rPr lang="en-US" dirty="0">
                <a:solidFill>
                  <a:srgbClr val="FF0000"/>
                </a:solidFill>
              </a:rPr>
              <a:t>Normalization of extracted features</a:t>
            </a:r>
          </a:p>
          <a:p>
            <a:r>
              <a:rPr lang="en-US" dirty="0">
                <a:solidFill>
                  <a:srgbClr val="FF0000"/>
                </a:solidFill>
              </a:rPr>
              <a:t>Data Augmentation</a:t>
            </a:r>
          </a:p>
          <a:p>
            <a:r>
              <a:rPr lang="en-US" dirty="0">
                <a:solidFill>
                  <a:srgbClr val="FF0000"/>
                </a:solidFill>
              </a:rPr>
              <a:t>Label encoding</a:t>
            </a:r>
          </a:p>
        </p:txBody>
      </p:sp>
    </p:spTree>
    <p:extLst>
      <p:ext uri="{BB962C8B-B14F-4D97-AF65-F5344CB8AC3E}">
        <p14:creationId xmlns:p14="http://schemas.microsoft.com/office/powerpoint/2010/main" val="2647379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92E74-8720-BEC6-D538-DD43692B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Image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AB588-681A-ED7A-65B2-9D3E1D083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Loading Image file</a:t>
            </a:r>
          </a:p>
          <a:p>
            <a:r>
              <a:rPr lang="en-US" dirty="0">
                <a:solidFill>
                  <a:srgbClr val="FF0000"/>
                </a:solidFill>
              </a:rPr>
              <a:t>Resizing</a:t>
            </a:r>
          </a:p>
          <a:p>
            <a:r>
              <a:rPr lang="en-US" dirty="0">
                <a:solidFill>
                  <a:srgbClr val="FF0000"/>
                </a:solidFill>
              </a:rPr>
              <a:t>Normalizing pixel values</a:t>
            </a:r>
          </a:p>
          <a:p>
            <a:r>
              <a:rPr lang="en-US" dirty="0">
                <a:solidFill>
                  <a:srgbClr val="FF0000"/>
                </a:solidFill>
              </a:rPr>
              <a:t>Data Augmentation</a:t>
            </a:r>
          </a:p>
          <a:p>
            <a:r>
              <a:rPr lang="en-US" dirty="0">
                <a:solidFill>
                  <a:srgbClr val="FF0000"/>
                </a:solidFill>
              </a:rPr>
              <a:t>Converting to grayscale</a:t>
            </a:r>
          </a:p>
          <a:p>
            <a:r>
              <a:rPr lang="en-US" dirty="0">
                <a:solidFill>
                  <a:srgbClr val="FF0000"/>
                </a:solidFill>
              </a:rPr>
              <a:t>Channel-wise normalization</a:t>
            </a:r>
          </a:p>
          <a:p>
            <a:r>
              <a:rPr lang="en-US" dirty="0">
                <a:solidFill>
                  <a:srgbClr val="FF0000"/>
                </a:solidFill>
              </a:rPr>
              <a:t>Reshaping</a:t>
            </a:r>
          </a:p>
          <a:p>
            <a:r>
              <a:rPr lang="en-US" dirty="0">
                <a:solidFill>
                  <a:srgbClr val="FF0000"/>
                </a:solidFill>
              </a:rPr>
              <a:t>Label encoding</a:t>
            </a:r>
          </a:p>
        </p:txBody>
      </p:sp>
    </p:spTree>
    <p:extLst>
      <p:ext uri="{BB962C8B-B14F-4D97-AF65-F5344CB8AC3E}">
        <p14:creationId xmlns:p14="http://schemas.microsoft.com/office/powerpoint/2010/main" val="174546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55E7-DFDA-EFA9-29AD-431F7AF96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Video Data 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8614-DA75-2DF3-1E6A-91B405EC5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File loading</a:t>
            </a:r>
          </a:p>
          <a:p>
            <a:r>
              <a:rPr lang="en-US" dirty="0">
                <a:solidFill>
                  <a:srgbClr val="FF0000"/>
                </a:solidFill>
              </a:rPr>
              <a:t>Frame extraction</a:t>
            </a:r>
          </a:p>
          <a:p>
            <a:r>
              <a:rPr lang="en-US" dirty="0">
                <a:solidFill>
                  <a:srgbClr val="FF0000"/>
                </a:solidFill>
              </a:rPr>
              <a:t>Resizing</a:t>
            </a:r>
          </a:p>
          <a:p>
            <a:r>
              <a:rPr lang="en-US" dirty="0">
                <a:solidFill>
                  <a:srgbClr val="FF0000"/>
                </a:solidFill>
              </a:rPr>
              <a:t>Frame Normalization</a:t>
            </a:r>
          </a:p>
          <a:p>
            <a:r>
              <a:rPr lang="en-US" dirty="0">
                <a:solidFill>
                  <a:srgbClr val="FF0000"/>
                </a:solidFill>
              </a:rPr>
              <a:t>Frame sequence</a:t>
            </a:r>
          </a:p>
          <a:p>
            <a:r>
              <a:rPr lang="en-US" dirty="0">
                <a:solidFill>
                  <a:srgbClr val="FF0000"/>
                </a:solidFill>
              </a:rPr>
              <a:t>Feature extraction</a:t>
            </a:r>
          </a:p>
          <a:p>
            <a:r>
              <a:rPr lang="en-US" dirty="0">
                <a:solidFill>
                  <a:srgbClr val="FF0000"/>
                </a:solidFill>
              </a:rPr>
              <a:t>Data augmentation</a:t>
            </a:r>
          </a:p>
          <a:p>
            <a:r>
              <a:rPr lang="en-US" dirty="0">
                <a:solidFill>
                  <a:srgbClr val="FF0000"/>
                </a:solidFill>
              </a:rPr>
              <a:t>Temporal smoothing: Averaging, etc.</a:t>
            </a:r>
          </a:p>
          <a:p>
            <a:r>
              <a:rPr lang="en-US" dirty="0">
                <a:solidFill>
                  <a:srgbClr val="FF0000"/>
                </a:solidFill>
              </a:rPr>
              <a:t>Label encoding</a:t>
            </a:r>
          </a:p>
        </p:txBody>
      </p:sp>
    </p:spTree>
    <p:extLst>
      <p:ext uri="{BB962C8B-B14F-4D97-AF65-F5344CB8AC3E}">
        <p14:creationId xmlns:p14="http://schemas.microsoft.com/office/powerpoint/2010/main" val="1159551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F4BF-697A-E75B-F0D2-AC56B613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Libraries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CE200-8BF1-9FAA-C706-7A2B8A0EE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pandas</a:t>
            </a:r>
            <a:r>
              <a:rPr lang="en-US" dirty="0"/>
              <a:t> for data manipulation and analysis</a:t>
            </a:r>
          </a:p>
          <a:p>
            <a:r>
              <a:rPr lang="en-US" b="1" dirty="0" err="1"/>
              <a:t>numpy</a:t>
            </a:r>
            <a:r>
              <a:rPr lang="en-US" dirty="0"/>
              <a:t> for numerical computations</a:t>
            </a:r>
          </a:p>
          <a:p>
            <a:r>
              <a:rPr lang="en-US" b="1" dirty="0"/>
              <a:t>matplotlib</a:t>
            </a:r>
            <a:r>
              <a:rPr lang="en-US" dirty="0"/>
              <a:t> for basic data visualization </a:t>
            </a:r>
          </a:p>
          <a:p>
            <a:r>
              <a:rPr lang="en-US" b="1" dirty="0"/>
              <a:t>seaborn</a:t>
            </a:r>
            <a:r>
              <a:rPr lang="en-US" dirty="0"/>
              <a:t> for statistical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371318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68A9-62F9-747C-0885-F7C5CCBC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FC926-D761-3D5D-53E2-41552066F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Benefits:</a:t>
            </a:r>
            <a:r>
              <a:rPr lang="en-US" dirty="0"/>
              <a:t> Data understanding, problem (missing/imbalance) identification, insights for feature engineering and model selection. </a:t>
            </a:r>
          </a:p>
        </p:txBody>
      </p:sp>
    </p:spTree>
    <p:extLst>
      <p:ext uri="{BB962C8B-B14F-4D97-AF65-F5344CB8AC3E}">
        <p14:creationId xmlns:p14="http://schemas.microsoft.com/office/powerpoint/2010/main" val="1887232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41AD4-581B-EF85-246D-1909CFD4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C973-FCAE-0FCF-C866-7E89D1ECE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Load the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Inspect (shape, types, head, summary)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Handle missing values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Fix types and formats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Remove duplicates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Clean text</a:t>
            </a:r>
            <a:r>
              <a:rPr lang="en-US" dirty="0"/>
              <a:t> and categorical variables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49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97B3-11DC-5DF3-8A93-23E4F3A37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Data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D0A6C-3B70-5099-8760-881CCF378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926" y="1825625"/>
            <a:ext cx="5588726" cy="435133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From Local Drive</a:t>
            </a:r>
          </a:p>
          <a:p>
            <a:pPr lvl="1"/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("data.csv")</a:t>
            </a:r>
          </a:p>
          <a:p>
            <a:pPr lvl="1"/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pd.read_excel</a:t>
            </a:r>
            <a:r>
              <a:rPr lang="en-US" dirty="0"/>
              <a:t>("data.xlsx")</a:t>
            </a:r>
          </a:p>
          <a:p>
            <a:r>
              <a:rPr lang="en-US" b="1" dirty="0"/>
              <a:t>From a URL</a:t>
            </a:r>
          </a:p>
          <a:p>
            <a:pPr lvl="1"/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</a:t>
            </a:r>
          </a:p>
          <a:p>
            <a:r>
              <a:rPr lang="en-US" b="1" dirty="0"/>
              <a:t>From Google Drive</a:t>
            </a:r>
          </a:p>
          <a:p>
            <a:pPr lvl="1"/>
            <a:r>
              <a:rPr lang="en-US" dirty="0"/>
              <a:t>from </a:t>
            </a:r>
            <a:r>
              <a:rPr lang="en-US" dirty="0" err="1"/>
              <a:t>google.colab</a:t>
            </a:r>
            <a:r>
              <a:rPr lang="en-US" dirty="0"/>
              <a:t> import drive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dirty="0" err="1"/>
              <a:t>drive.mount</a:t>
            </a:r>
            <a:r>
              <a:rPr lang="en-US" dirty="0"/>
              <a:t>('/content/drive’)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('/content/drive/</a:t>
            </a:r>
            <a:r>
              <a:rPr lang="en-US" dirty="0" err="1"/>
              <a:t>MyDrive</a:t>
            </a:r>
            <a:r>
              <a:rPr lang="en-US" dirty="0"/>
              <a:t>/data.csv’)</a:t>
            </a:r>
          </a:p>
          <a:p>
            <a:r>
              <a:rPr lang="en-US" b="1" dirty="0"/>
              <a:t>Built-in Datasets from Libraries</a:t>
            </a:r>
          </a:p>
          <a:p>
            <a:pPr lvl="1"/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sns.load_dataset</a:t>
            </a:r>
            <a:r>
              <a:rPr lang="en-US" dirty="0"/>
              <a:t>("titanic")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234CF4-6E6D-2628-292C-531415EBB240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7650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From Databases</a:t>
            </a:r>
          </a:p>
          <a:p>
            <a:pPr lvl="1"/>
            <a:r>
              <a:rPr lang="en-US" dirty="0"/>
              <a:t>import sqlite3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     conn = sqlite3.connect("</a:t>
            </a:r>
            <a:r>
              <a:rPr lang="en-US" dirty="0" err="1"/>
              <a:t>my_database.db</a:t>
            </a:r>
            <a:r>
              <a:rPr lang="en-US" dirty="0"/>
              <a:t>")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     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pd.read_sql_query</a:t>
            </a:r>
            <a:r>
              <a:rPr lang="en-US" dirty="0"/>
              <a:t>("SELECT * FROM </a:t>
            </a:r>
            <a:r>
              <a:rPr lang="en-US" dirty="0" err="1"/>
              <a:t>my_table</a:t>
            </a:r>
            <a:r>
              <a:rPr lang="en-US" dirty="0"/>
              <a:t>", conn)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From Lists/Dictionaries/Arrays</a:t>
            </a:r>
          </a:p>
          <a:p>
            <a:pPr lvl="1"/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  "Name": ["Ali", "Sara"], "Age": [23, 25]})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17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C3F4-80BA-A079-1F28-A25436B3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Data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A361-ACF4-E2C4-D9EF-C29980650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is done to detect nulls, identify wrong data types, find suspicious values, decide on encoding, cleaning, or imputation.</a:t>
            </a:r>
          </a:p>
          <a:p>
            <a:r>
              <a:rPr lang="en-US" dirty="0"/>
              <a:t>Some common actions</a:t>
            </a:r>
          </a:p>
          <a:p>
            <a:pPr lvl="1"/>
            <a:r>
              <a:rPr lang="en-US" dirty="0"/>
              <a:t>Shape (Rows and Columns) </a:t>
            </a:r>
          </a:p>
          <a:p>
            <a:pPr lvl="1"/>
            <a:r>
              <a:rPr lang="en-US" dirty="0"/>
              <a:t>Preview the First n Rows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Preview the Last n Rows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Summary of Dataset</a:t>
            </a:r>
            <a:r>
              <a:rPr lang="en-US" dirty="0">
                <a:sym typeface="Wingdings" panose="05000000000000000000" pitchFamily="2" charset="2"/>
              </a:rPr>
              <a:t> (Col Names, non-null counts, data types, memory usage)</a:t>
            </a:r>
          </a:p>
          <a:p>
            <a:pPr lvl="1"/>
            <a:r>
              <a:rPr lang="en-US" dirty="0"/>
              <a:t>Statistical Summary (count, mean, std, min, 25%, 50%, 75%, max) 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Data types of each column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List of All Column Names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Count of Non-Null Values in Each Column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Number of Unique Values per Column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Missing Values Per Column</a:t>
            </a:r>
          </a:p>
        </p:txBody>
      </p:sp>
    </p:spTree>
    <p:extLst>
      <p:ext uri="{BB962C8B-B14F-4D97-AF65-F5344CB8AC3E}">
        <p14:creationId xmlns:p14="http://schemas.microsoft.com/office/powerpoint/2010/main" val="410681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BC0A-C349-9F06-9FBB-1B7CF424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0F9A-D57E-B7B6-6353-0E531B385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Data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985EE-8C72-1185-B9CB-6B9337C6A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is done to detect nulls, identify wrong data types, find suspicious values, decide on encoding, cleaning, or imputation.</a:t>
            </a:r>
          </a:p>
          <a:p>
            <a:r>
              <a:rPr lang="en-US" dirty="0"/>
              <a:t>Some common actions</a:t>
            </a:r>
          </a:p>
          <a:p>
            <a:pPr lvl="1"/>
            <a:r>
              <a:rPr lang="en-US" dirty="0"/>
              <a:t>Shape (Rows and Columns)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df.shape</a:t>
            </a:r>
            <a:endParaRPr lang="en-US" dirty="0"/>
          </a:p>
          <a:p>
            <a:pPr lvl="1"/>
            <a:r>
              <a:rPr lang="en-US" dirty="0"/>
              <a:t>Preview the First n Rows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df.head</a:t>
            </a:r>
            <a:r>
              <a:rPr lang="en-US" dirty="0">
                <a:sym typeface="Wingdings" panose="05000000000000000000" pitchFamily="2" charset="2"/>
              </a:rPr>
              <a:t>(10)</a:t>
            </a:r>
          </a:p>
          <a:p>
            <a:pPr lvl="1"/>
            <a:r>
              <a:rPr lang="en-US" dirty="0"/>
              <a:t>Preview the Last n Rows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df.tail</a:t>
            </a:r>
            <a:r>
              <a:rPr lang="en-US" dirty="0">
                <a:sym typeface="Wingdings" panose="05000000000000000000" pitchFamily="2" charset="2"/>
              </a:rPr>
              <a:t>(3)</a:t>
            </a:r>
          </a:p>
          <a:p>
            <a:pPr lvl="1"/>
            <a:r>
              <a:rPr lang="en-US" dirty="0"/>
              <a:t>Summary of Dataset</a:t>
            </a:r>
            <a:r>
              <a:rPr lang="en-US" dirty="0">
                <a:sym typeface="Wingdings" panose="05000000000000000000" pitchFamily="2" charset="2"/>
              </a:rPr>
              <a:t> (Col Names, non-null counts, data types, memory usage) df.info()</a:t>
            </a:r>
          </a:p>
          <a:p>
            <a:pPr lvl="1"/>
            <a:r>
              <a:rPr lang="en-US" dirty="0"/>
              <a:t>Statistical Summary (count, mean, std, min, 25%, 50%, 75%, max)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df.describe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/>
              <a:t>Data types of each column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df.dtypes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List of All Column Names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df.columns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Count of Non-Null Values in Each Column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df.count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/>
              <a:t>Number of Unique Values per Column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df.nunique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/>
              <a:t>Missing Values Per Column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df.isnull</a:t>
            </a:r>
            <a:r>
              <a:rPr lang="en-US" dirty="0">
                <a:sym typeface="Wingdings" panose="05000000000000000000" pitchFamily="2" charset="2"/>
              </a:rPr>
              <a:t>().sum()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562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5DB8F-F3E5-ADDC-CF0E-D35CB45EE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5FDD-836D-B95B-67FC-3BE2C7D6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Remove missing values:</a:t>
            </a:r>
            <a:r>
              <a:rPr lang="en-US" dirty="0"/>
              <a:t> Used when missing values are fewer or less essential. </a:t>
            </a:r>
          </a:p>
          <a:p>
            <a:pPr lvl="1"/>
            <a:r>
              <a:rPr lang="en-US" dirty="0"/>
              <a:t>Drop row, </a:t>
            </a:r>
            <a:r>
              <a:rPr lang="en-US" dirty="0">
                <a:sym typeface="Wingdings" panose="05000000000000000000" pitchFamily="2" charset="2"/>
              </a:rPr>
              <a:t>Drop column, Drop with threshold</a:t>
            </a:r>
          </a:p>
          <a:p>
            <a:r>
              <a:rPr lang="en-US" b="1" dirty="0">
                <a:sym typeface="Wingdings" panose="05000000000000000000" pitchFamily="2" charset="2"/>
              </a:rPr>
              <a:t>Imputation:</a:t>
            </a:r>
            <a:r>
              <a:rPr lang="en-US" dirty="0">
                <a:sym typeface="Wingdings" panose="05000000000000000000" pitchFamily="2" charset="2"/>
              </a:rPr>
              <a:t> Filling missing values.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Constant imputation (for absence of value)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Mean imputation (normally distributed)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Median imputation (</a:t>
            </a:r>
            <a:r>
              <a:rPr lang="en-US" i="1" dirty="0">
                <a:sym typeface="Wingdings" panose="05000000000000000000" pitchFamily="2" charset="2"/>
              </a:rPr>
              <a:t>outliers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/>
              <a:t>Mode imputation (</a:t>
            </a:r>
            <a:r>
              <a:rPr lang="en-US" i="1" dirty="0"/>
              <a:t>categorical</a:t>
            </a:r>
            <a:r>
              <a:rPr lang="en-US" dirty="0"/>
              <a:t>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Forward/Backward fill (for </a:t>
            </a:r>
            <a:r>
              <a:rPr lang="en-US" i="1" dirty="0">
                <a:sym typeface="Wingdings" panose="05000000000000000000" pitchFamily="2" charset="2"/>
              </a:rPr>
              <a:t>time series or ordered data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b="0" dirty="0"/>
          </a:p>
          <a:p>
            <a:pPr lvl="1"/>
            <a:r>
              <a:rPr lang="en-US" dirty="0"/>
              <a:t>Group-based Imputation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Interpolation</a:t>
            </a:r>
          </a:p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Advanced/Model-based Imputation: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K-NN Imputation, Iterative Imputation (MICE), Regression-based Imputation, DL-based Imputation, </a:t>
            </a:r>
            <a:r>
              <a:rPr lang="en-US" dirty="0">
                <a:solidFill>
                  <a:srgbClr val="FF0000"/>
                </a:solidFill>
              </a:rPr>
              <a:t>Expectation-Maximization (EM) based Imputation, 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Implicit handling by the model: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XGBoost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CatBoost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74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7671-418E-7D89-60D3-2D72A919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80D4-98DC-6A20-D1CB-0FA1A8850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305D5-A86D-D6D5-9E61-E27EC1E61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Remove missing values:</a:t>
            </a:r>
            <a:r>
              <a:rPr lang="en-US" dirty="0"/>
              <a:t> Used when missing values are fewer or less essential. </a:t>
            </a:r>
          </a:p>
          <a:p>
            <a:pPr lvl="1"/>
            <a:r>
              <a:rPr lang="en-US" dirty="0"/>
              <a:t>Drop row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df.dropna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Drop column  </a:t>
            </a:r>
            <a:r>
              <a:rPr lang="en-US" dirty="0" err="1">
                <a:sym typeface="Wingdings" panose="05000000000000000000" pitchFamily="2" charset="2"/>
              </a:rPr>
              <a:t>df.dropna</a:t>
            </a:r>
            <a:r>
              <a:rPr lang="en-US" dirty="0">
                <a:sym typeface="Wingdings" panose="05000000000000000000" pitchFamily="2" charset="2"/>
              </a:rPr>
              <a:t>(axis=1)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Drop with threshold  </a:t>
            </a:r>
            <a:r>
              <a:rPr lang="en-US" dirty="0" err="1">
                <a:sym typeface="Wingdings" panose="05000000000000000000" pitchFamily="2" charset="2"/>
              </a:rPr>
              <a:t>df.dropna</a:t>
            </a:r>
            <a:r>
              <a:rPr lang="en-US" dirty="0">
                <a:sym typeface="Wingdings" panose="05000000000000000000" pitchFamily="2" charset="2"/>
              </a:rPr>
              <a:t>(thresh=3)</a:t>
            </a:r>
          </a:p>
          <a:p>
            <a:r>
              <a:rPr lang="en-US" b="1" dirty="0">
                <a:sym typeface="Wingdings" panose="05000000000000000000" pitchFamily="2" charset="2"/>
              </a:rPr>
              <a:t>Imputation:</a:t>
            </a:r>
            <a:r>
              <a:rPr lang="en-US" dirty="0">
                <a:sym typeface="Wingdings" panose="05000000000000000000" pitchFamily="2" charset="2"/>
              </a:rPr>
              <a:t> Filling missing values.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Constant imputation (for absence of value) 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['age'].</a:t>
            </a:r>
            <a:r>
              <a:rPr lang="en-US" dirty="0" err="1">
                <a:sym typeface="Wingdings" panose="05000000000000000000" pitchFamily="2" charset="2"/>
              </a:rPr>
              <a:t>fillna</a:t>
            </a:r>
            <a:r>
              <a:rPr lang="en-US" dirty="0">
                <a:sym typeface="Wingdings" panose="05000000000000000000" pitchFamily="2" charset="2"/>
              </a:rPr>
              <a:t>(0, </a:t>
            </a:r>
            <a:r>
              <a:rPr lang="en-US" dirty="0" err="1">
                <a:sym typeface="Wingdings" panose="05000000000000000000" pitchFamily="2" charset="2"/>
              </a:rPr>
              <a:t>inplace</a:t>
            </a:r>
            <a:r>
              <a:rPr lang="en-US" dirty="0">
                <a:sym typeface="Wingdings" panose="05000000000000000000" pitchFamily="2" charset="2"/>
              </a:rPr>
              <a:t>=True)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Mean imputation (normally distributed) 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['age'].</a:t>
            </a:r>
            <a:r>
              <a:rPr lang="en-US" dirty="0" err="1">
                <a:sym typeface="Wingdings" panose="05000000000000000000" pitchFamily="2" charset="2"/>
              </a:rPr>
              <a:t>fillna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['age'].mean(), </a:t>
            </a:r>
            <a:r>
              <a:rPr lang="en-US" dirty="0" err="1">
                <a:sym typeface="Wingdings" panose="05000000000000000000" pitchFamily="2" charset="2"/>
              </a:rPr>
              <a:t>inplace</a:t>
            </a:r>
            <a:r>
              <a:rPr lang="en-US" dirty="0">
                <a:sym typeface="Wingdings" panose="05000000000000000000" pitchFamily="2" charset="2"/>
              </a:rPr>
              <a:t>=True)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Median imputation (</a:t>
            </a:r>
            <a:r>
              <a:rPr lang="en-US" i="1" dirty="0">
                <a:sym typeface="Wingdings" panose="05000000000000000000" pitchFamily="2" charset="2"/>
              </a:rPr>
              <a:t>outliers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['age'].</a:t>
            </a:r>
            <a:r>
              <a:rPr lang="en-US" dirty="0" err="1">
                <a:sym typeface="Wingdings" panose="05000000000000000000" pitchFamily="2" charset="2"/>
              </a:rPr>
              <a:t>fillna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['age'].median(), </a:t>
            </a:r>
            <a:r>
              <a:rPr lang="en-US" dirty="0" err="1">
                <a:sym typeface="Wingdings" panose="05000000000000000000" pitchFamily="2" charset="2"/>
              </a:rPr>
              <a:t>inplace</a:t>
            </a:r>
            <a:r>
              <a:rPr lang="en-US" dirty="0">
                <a:sym typeface="Wingdings" panose="05000000000000000000" pitchFamily="2" charset="2"/>
              </a:rPr>
              <a:t>=True)</a:t>
            </a:r>
          </a:p>
          <a:p>
            <a:pPr lvl="1"/>
            <a:r>
              <a:rPr lang="en-US" dirty="0"/>
              <a:t>Mode imputation (</a:t>
            </a:r>
            <a:r>
              <a:rPr lang="en-US" i="1" dirty="0"/>
              <a:t>categorical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['gender'].</a:t>
            </a:r>
            <a:r>
              <a:rPr lang="en-US" dirty="0" err="1">
                <a:sym typeface="Wingdings" panose="05000000000000000000" pitchFamily="2" charset="2"/>
              </a:rPr>
              <a:t>fillna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['gender'].mode()[0], </a:t>
            </a:r>
            <a:r>
              <a:rPr lang="en-US" dirty="0" err="1">
                <a:sym typeface="Wingdings" panose="05000000000000000000" pitchFamily="2" charset="2"/>
              </a:rPr>
              <a:t>inplace</a:t>
            </a:r>
            <a:r>
              <a:rPr lang="en-US" dirty="0">
                <a:sym typeface="Wingdings" panose="05000000000000000000" pitchFamily="2" charset="2"/>
              </a:rPr>
              <a:t>=True)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Forward/Backward fill (for </a:t>
            </a:r>
            <a:r>
              <a:rPr lang="en-US" i="1" dirty="0">
                <a:sym typeface="Wingdings" panose="05000000000000000000" pitchFamily="2" charset="2"/>
              </a:rPr>
              <a:t>time series or ordered data</a:t>
            </a:r>
            <a:r>
              <a:rPr lang="en-US" dirty="0">
                <a:sym typeface="Wingdings" panose="05000000000000000000" pitchFamily="2" charset="2"/>
              </a:rPr>
              <a:t>)  </a:t>
            </a:r>
            <a:r>
              <a:rPr lang="en-US" b="0" dirty="0" err="1"/>
              <a:t>df.fillna</a:t>
            </a:r>
            <a:r>
              <a:rPr lang="en-US" b="0" dirty="0"/>
              <a:t>(method='</a:t>
            </a:r>
            <a:r>
              <a:rPr lang="en-US" b="0" dirty="0" err="1"/>
              <a:t>ffill</a:t>
            </a:r>
            <a:r>
              <a:rPr lang="en-US" b="0" dirty="0"/>
              <a:t>')  # forward fill / backward </a:t>
            </a:r>
            <a:r>
              <a:rPr lang="en-US" b="0" dirty="0" err="1"/>
              <a:t>bfill</a:t>
            </a:r>
            <a:endParaRPr lang="en-US" b="0" dirty="0"/>
          </a:p>
          <a:p>
            <a:pPr lvl="1"/>
            <a:r>
              <a:rPr lang="en-US" dirty="0"/>
              <a:t>Group-based Imputation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/>
              <a:t>df</a:t>
            </a:r>
            <a:r>
              <a:rPr lang="en-US" dirty="0"/>
              <a:t>['salary'] = </a:t>
            </a:r>
            <a:r>
              <a:rPr lang="en-US" dirty="0" err="1"/>
              <a:t>df.groupby</a:t>
            </a:r>
            <a:r>
              <a:rPr lang="en-US" dirty="0"/>
              <a:t>('gender')['salary'].transform(lambda x: </a:t>
            </a:r>
            <a:r>
              <a:rPr lang="en-US" dirty="0" err="1"/>
              <a:t>x.fillna</a:t>
            </a:r>
            <a:r>
              <a:rPr lang="en-US" dirty="0"/>
              <a:t>(</a:t>
            </a:r>
            <a:r>
              <a:rPr lang="en-US" dirty="0" err="1"/>
              <a:t>x.mean</a:t>
            </a:r>
            <a:r>
              <a:rPr lang="en-US" dirty="0"/>
              <a:t>()))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Interpolation 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 =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['age'].interpolate(method='linear')</a:t>
            </a:r>
          </a:p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Advanced/Model-based Imputation:</a:t>
            </a:r>
          </a:p>
          <a:p>
            <a:pPr lvl="1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K-NN Imputation, Iterative Imputation (MICE), Regression-based Imputation, DL-based Imputation, </a:t>
            </a:r>
            <a:r>
              <a:rPr lang="en-US" dirty="0">
                <a:solidFill>
                  <a:srgbClr val="FF0000"/>
                </a:solidFill>
              </a:rPr>
              <a:t>Expectation-Maximization (EM) based Imputation, 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Implicit handling by the model: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XGBoost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CatBoost</a:t>
            </a:r>
            <a:endParaRPr lang="en-US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219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20CB-8E40-F9A3-8AC8-D30F0500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A517AA-AFA9-6719-1F20-D85B69040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527853"/>
              </p:ext>
            </p:extLst>
          </p:nvPr>
        </p:nvGraphicFramePr>
        <p:xfrm>
          <a:off x="1236260" y="1991987"/>
          <a:ext cx="9719480" cy="3980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1948">
                  <a:extLst>
                    <a:ext uri="{9D8B030D-6E8A-4147-A177-3AD203B41FA5}">
                      <a16:colId xmlns:a16="http://schemas.microsoft.com/office/drawing/2014/main" val="1169939785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921328649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278705554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1843262878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520167976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2910052272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2200276942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340846747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731002669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503653181"/>
                    </a:ext>
                  </a:extLst>
                </a:gridCol>
              </a:tblGrid>
              <a:tr h="7344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Age (Mean)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Salary (Median)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City (Mode)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Score (Interpolation)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Experience (Ffill)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Rating (Bfill)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Height (Group-Mean)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Level (Constant)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7782123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Ali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25.0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50000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Lahore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88.0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1.0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5.60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extLst>
                  <a:ext uri="{0D108BD9-81ED-4DB2-BD59-A6C34878D82A}">
                    <a16:rowId xmlns:a16="http://schemas.microsoft.com/office/drawing/2014/main" val="2866989317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Sara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Female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54000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2.0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4.2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Junior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extLst>
                  <a:ext uri="{0D108BD9-81ED-4DB2-BD59-A6C34878D82A}">
                    <a16:rowId xmlns:a16="http://schemas.microsoft.com/office/drawing/2014/main" val="4177863522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John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28.0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Karachi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85.0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4.5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5.80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Mid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extLst>
                  <a:ext uri="{0D108BD9-81ED-4DB2-BD59-A6C34878D82A}">
                    <a16:rowId xmlns:a16="http://schemas.microsoft.com/office/drawing/2014/main" val="3192202309"/>
                  </a:ext>
                </a:extLst>
              </a:tr>
              <a:tr h="7344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Aisha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Female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58000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Islamabad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90.0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4.0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extLst>
                  <a:ext uri="{0D108BD9-81ED-4DB2-BD59-A6C34878D82A}">
                    <a16:rowId xmlns:a16="http://schemas.microsoft.com/office/drawing/2014/main" val="2227829637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Tom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30.0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Lahore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4.8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6.00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Senior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extLst>
                  <a:ext uri="{0D108BD9-81ED-4DB2-BD59-A6C34878D82A}">
                    <a16:rowId xmlns:a16="http://schemas.microsoft.com/office/drawing/2014/main" val="408299298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Zara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Female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26.0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52000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 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95.0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6.0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5.0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5.50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Mid</a:t>
                      </a:r>
                      <a:endParaRPr lang="en-US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extLst>
                  <a:ext uri="{0D108BD9-81ED-4DB2-BD59-A6C34878D82A}">
                    <a16:rowId xmlns:a16="http://schemas.microsoft.com/office/drawing/2014/main" val="1774562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443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F2A-F5D4-62A9-8CB7-01D6078E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837D-B15D-15F3-DA04-419011F8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 - Solution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608068-8F49-731D-3106-7ECC72C9F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028555"/>
              </p:ext>
            </p:extLst>
          </p:nvPr>
        </p:nvGraphicFramePr>
        <p:xfrm>
          <a:off x="1236260" y="1991987"/>
          <a:ext cx="9719480" cy="3980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1948">
                  <a:extLst>
                    <a:ext uri="{9D8B030D-6E8A-4147-A177-3AD203B41FA5}">
                      <a16:colId xmlns:a16="http://schemas.microsoft.com/office/drawing/2014/main" val="1169939785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921328649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278705554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1843262878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520167976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2910052272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2200276942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340846747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3731002669"/>
                    </a:ext>
                  </a:extLst>
                </a:gridCol>
                <a:gridCol w="971948">
                  <a:extLst>
                    <a:ext uri="{9D8B030D-6E8A-4147-A177-3AD203B41FA5}">
                      <a16:colId xmlns:a16="http://schemas.microsoft.com/office/drawing/2014/main" val="503653181"/>
                    </a:ext>
                  </a:extLst>
                </a:gridCol>
              </a:tblGrid>
              <a:tr h="7344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Age (Mean)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Salary (Median)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City (Mode)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Score (Interpolation)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Experience (Ffill)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Rating (Bfill)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Height (Group-Mean)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Level (Constant)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7782123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Ali</a:t>
                      </a:r>
                      <a:endParaRPr lang="en-US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Male</a:t>
                      </a:r>
                      <a:endParaRPr lang="en-US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50000.0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Lahore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88.0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Unknown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6989317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Sara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Female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27.25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54000.0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Lahore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86.5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Junior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7863522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John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28.00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53000.0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Karachi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85.0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2202309"/>
                  </a:ext>
                </a:extLst>
              </a:tr>
              <a:tr h="7344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Aisha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Female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27.25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58000.0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Islamabad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Unknown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7829637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Tom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30.00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53000.0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Lahore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92.5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Senior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299298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Zara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Female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26.00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52000.0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Lahore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95.0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Mid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4562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742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6152-155F-4928-6831-F9FB8034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</a:t>
            </a:r>
            <a:r>
              <a:rPr lang="en-US" dirty="0"/>
              <a:t>– Fixing Types &amp;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FEF92-7B91-EDFA-9B82-BDA03A584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Converting columns to the correct data type</a:t>
            </a:r>
          </a:p>
          <a:p>
            <a:r>
              <a:rPr lang="en-US" dirty="0"/>
              <a:t>Standardizing formats like dates, numbers, and strings</a:t>
            </a:r>
          </a:p>
          <a:p>
            <a:r>
              <a:rPr lang="en-US" dirty="0"/>
              <a:t>Removing inconsistencies or unwanted characters</a:t>
            </a:r>
          </a:p>
        </p:txBody>
      </p:sp>
    </p:spTree>
    <p:extLst>
      <p:ext uri="{BB962C8B-B14F-4D97-AF65-F5344CB8AC3E}">
        <p14:creationId xmlns:p14="http://schemas.microsoft.com/office/powerpoint/2010/main" val="843413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44338-8DAD-B676-8F5F-40915348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F086-65A3-6AE2-4E68-96CE64BE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</a:t>
            </a:r>
            <a:r>
              <a:rPr lang="en-US" dirty="0"/>
              <a:t>– Fixing Types &amp;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7B286-A7C6-F110-1EED-2DCDA1761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numeric: </a:t>
            </a:r>
            <a:r>
              <a:rPr lang="en-US" dirty="0" err="1"/>
              <a:t>df</a:t>
            </a:r>
            <a:r>
              <a:rPr lang="en-US" dirty="0"/>
              <a:t>['Salary'] = </a:t>
            </a:r>
            <a:r>
              <a:rPr lang="en-US" dirty="0" err="1"/>
              <a:t>pd.to_numeric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['Salary'], errors='coerce’)</a:t>
            </a:r>
          </a:p>
          <a:p>
            <a:r>
              <a:rPr lang="en-US" dirty="0"/>
              <a:t>To Datetime: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JoinDate</a:t>
            </a:r>
            <a:r>
              <a:rPr lang="en-US" dirty="0"/>
              <a:t>'] = </a:t>
            </a:r>
            <a:r>
              <a:rPr lang="en-US" dirty="0" err="1"/>
              <a:t>pd.to_datetime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JoinDate</a:t>
            </a:r>
            <a:r>
              <a:rPr lang="en-US" dirty="0"/>
              <a:t>'], errors='coerce’)</a:t>
            </a:r>
          </a:p>
          <a:p>
            <a:r>
              <a:rPr lang="en-US" dirty="0"/>
              <a:t>To Category: </a:t>
            </a:r>
            <a:r>
              <a:rPr lang="en-US" dirty="0" err="1"/>
              <a:t>df</a:t>
            </a:r>
            <a:r>
              <a:rPr lang="en-US" dirty="0"/>
              <a:t>['Gender'] = </a:t>
            </a:r>
            <a:r>
              <a:rPr lang="en-US" dirty="0" err="1"/>
              <a:t>df</a:t>
            </a:r>
            <a:r>
              <a:rPr lang="en-US" dirty="0"/>
              <a:t>['Gender'].</a:t>
            </a:r>
            <a:r>
              <a:rPr lang="en-US" dirty="0" err="1"/>
              <a:t>astype</a:t>
            </a:r>
            <a:r>
              <a:rPr lang="en-US" dirty="0"/>
              <a:t>('category’)</a:t>
            </a:r>
          </a:p>
          <a:p>
            <a:r>
              <a:rPr lang="en-US" dirty="0"/>
              <a:t>String Cleaning: </a:t>
            </a:r>
            <a:r>
              <a:rPr lang="en-US" dirty="0" err="1"/>
              <a:t>df</a:t>
            </a:r>
            <a:r>
              <a:rPr lang="en-US" dirty="0"/>
              <a:t>['Email'] = </a:t>
            </a:r>
            <a:r>
              <a:rPr lang="en-US" dirty="0" err="1"/>
              <a:t>df</a:t>
            </a:r>
            <a:r>
              <a:rPr lang="en-US" dirty="0"/>
              <a:t>['Email'].</a:t>
            </a:r>
            <a:r>
              <a:rPr lang="en-US" dirty="0" err="1"/>
              <a:t>str.strip</a:t>
            </a:r>
            <a:r>
              <a:rPr lang="en-US" dirty="0"/>
              <a:t>().</a:t>
            </a:r>
            <a:r>
              <a:rPr lang="en-US" dirty="0" err="1"/>
              <a:t>str.lower</a:t>
            </a:r>
            <a:r>
              <a:rPr lang="en-US" dirty="0"/>
              <a:t>()</a:t>
            </a:r>
          </a:p>
          <a:p>
            <a:r>
              <a:rPr lang="en-US" dirty="0"/>
              <a:t>Fix Currency: </a:t>
            </a:r>
            <a:r>
              <a:rPr lang="en-US" dirty="0" err="1"/>
              <a:t>df</a:t>
            </a:r>
            <a:r>
              <a:rPr lang="en-US" dirty="0"/>
              <a:t>['Price'] = </a:t>
            </a:r>
            <a:r>
              <a:rPr lang="en-US" dirty="0" err="1"/>
              <a:t>df</a:t>
            </a:r>
            <a:r>
              <a:rPr lang="en-US" dirty="0"/>
              <a:t>['Price'].</a:t>
            </a:r>
            <a:r>
              <a:rPr lang="en-US" dirty="0" err="1"/>
              <a:t>str.replace</a:t>
            </a:r>
            <a:r>
              <a:rPr lang="en-US" dirty="0"/>
              <a:t>('$', '').</a:t>
            </a:r>
            <a:r>
              <a:rPr lang="en-US" dirty="0" err="1"/>
              <a:t>astype</a:t>
            </a:r>
            <a:r>
              <a:rPr lang="en-US" dirty="0"/>
              <a:t>(float)</a:t>
            </a:r>
          </a:p>
          <a:p>
            <a:r>
              <a:rPr lang="en-US" dirty="0"/>
              <a:t>Fix Percent: </a:t>
            </a:r>
            <a:r>
              <a:rPr lang="en-US" dirty="0" err="1"/>
              <a:t>df</a:t>
            </a:r>
            <a:r>
              <a:rPr lang="en-US" dirty="0"/>
              <a:t>['Discount'] = </a:t>
            </a:r>
            <a:r>
              <a:rPr lang="en-US" dirty="0" err="1"/>
              <a:t>df</a:t>
            </a:r>
            <a:r>
              <a:rPr lang="en-US" dirty="0"/>
              <a:t>['Discount'].</a:t>
            </a:r>
            <a:r>
              <a:rPr lang="en-US" dirty="0" err="1"/>
              <a:t>str.replace</a:t>
            </a:r>
            <a:r>
              <a:rPr lang="en-US" dirty="0"/>
              <a:t>('%', '').</a:t>
            </a:r>
            <a:r>
              <a:rPr lang="en-US" dirty="0" err="1"/>
              <a:t>astype</a:t>
            </a:r>
            <a:r>
              <a:rPr lang="en-US" dirty="0"/>
              <a:t>(float)</a:t>
            </a:r>
          </a:p>
        </p:txBody>
      </p:sp>
    </p:spTree>
    <p:extLst>
      <p:ext uri="{BB962C8B-B14F-4D97-AF65-F5344CB8AC3E}">
        <p14:creationId xmlns:p14="http://schemas.microsoft.com/office/powerpoint/2010/main" val="2319428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A69A-B17E-EEA8-52A3-D2E5EA46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Dealing with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EBD33-E8DD-8D43-6CE9-60D87A674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Remove All Fully Duplicated Rows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Remove Duplicates Based on Specific Columns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Remove All Duplicates (including the first/last)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20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DEDE-B409-AC6B-DAEC-C8EE2262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977D-7BB7-D8B4-8BA7-A51112A7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  <a:r>
              <a:rPr lang="en-US" dirty="0"/>
              <a:t> – Dealing with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CAF09-0C3C-6FB1-ACEB-8A958B56E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Remove All Fully Duplicated Rows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df.drop_duplicates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n-US" dirty="0" err="1">
                <a:sym typeface="Wingdings" panose="05000000000000000000" pitchFamily="2" charset="2"/>
              </a:rPr>
              <a:t>inplace</a:t>
            </a:r>
            <a:r>
              <a:rPr lang="en-US" dirty="0">
                <a:sym typeface="Wingdings" panose="05000000000000000000" pitchFamily="2" charset="2"/>
              </a:rPr>
              <a:t>=True)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Remove Duplicates Based on Specific Columns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df.drop_duplicates</a:t>
            </a:r>
            <a:r>
              <a:rPr lang="en-US" dirty="0">
                <a:sym typeface="Wingdings" panose="05000000000000000000" pitchFamily="2" charset="2"/>
              </a:rPr>
              <a:t>(subset=['Column1', 'Column2'], keep='first', </a:t>
            </a:r>
            <a:r>
              <a:rPr lang="en-US" dirty="0" err="1">
                <a:sym typeface="Wingdings" panose="05000000000000000000" pitchFamily="2" charset="2"/>
              </a:rPr>
              <a:t>inplace</a:t>
            </a:r>
            <a:r>
              <a:rPr lang="en-US" dirty="0">
                <a:sym typeface="Wingdings" panose="05000000000000000000" pitchFamily="2" charset="2"/>
              </a:rPr>
              <a:t>=True)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Remove All Duplicates (including the first)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[~</a:t>
            </a:r>
            <a:r>
              <a:rPr lang="en-US" dirty="0" err="1">
                <a:sym typeface="Wingdings" panose="05000000000000000000" pitchFamily="2" charset="2"/>
              </a:rPr>
              <a:t>df.duplicated</a:t>
            </a:r>
            <a:r>
              <a:rPr lang="en-US" dirty="0">
                <a:sym typeface="Wingdings" panose="05000000000000000000" pitchFamily="2" charset="2"/>
              </a:rPr>
              <a:t>(keep=False)]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Remove Duplicates in a Single Column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['Email'].</a:t>
            </a:r>
            <a:r>
              <a:rPr lang="en-US" dirty="0" err="1">
                <a:sym typeface="Wingdings" panose="05000000000000000000" pitchFamily="2" charset="2"/>
              </a:rPr>
              <a:t>drop_duplicates</a:t>
            </a:r>
            <a:r>
              <a:rPr lang="en-US" dirty="0">
                <a:sym typeface="Wingdings" panose="05000000000000000000" pitchFamily="2" charset="2"/>
              </a:rPr>
              <a:t>()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Reset Index After Removing Duplicates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df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err="1">
                <a:sym typeface="Wingdings" panose="05000000000000000000" pitchFamily="2" charset="2"/>
              </a:rPr>
              <a:t>df.drop_duplicates</a:t>
            </a:r>
            <a:r>
              <a:rPr lang="en-US" dirty="0">
                <a:sym typeface="Wingdings" panose="05000000000000000000" pitchFamily="2" charset="2"/>
              </a:rPr>
              <a:t>().</a:t>
            </a:r>
            <a:r>
              <a:rPr lang="en-US" dirty="0" err="1">
                <a:sym typeface="Wingdings" panose="05000000000000000000" pitchFamily="2" charset="2"/>
              </a:rPr>
              <a:t>reset_index</a:t>
            </a:r>
            <a:r>
              <a:rPr lang="en-US" dirty="0">
                <a:sym typeface="Wingdings" panose="05000000000000000000" pitchFamily="2" charset="2"/>
              </a:rPr>
              <a:t>(drop=True)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792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B767-8280-311D-1018-9D764316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Cleaning</a:t>
            </a:r>
            <a:r>
              <a:rPr lang="en-US" dirty="0">
                <a:solidFill>
                  <a:srgbClr val="FF0000"/>
                </a:solidFill>
              </a:rPr>
              <a:t> – Cleaning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42EA0-5F59-DC7D-45FD-0B5DA9BF4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Remove Punctuation &amp; Special Characters</a:t>
            </a:r>
          </a:p>
          <a:p>
            <a:r>
              <a:rPr lang="en-US" dirty="0">
                <a:solidFill>
                  <a:srgbClr val="FF0000"/>
                </a:solidFill>
              </a:rPr>
              <a:t>Convert to Lowercase</a:t>
            </a:r>
          </a:p>
          <a:p>
            <a:r>
              <a:rPr lang="en-US" dirty="0">
                <a:solidFill>
                  <a:srgbClr val="FF0000"/>
                </a:solidFill>
              </a:rPr>
              <a:t>Remove Extra Whitespace</a:t>
            </a:r>
          </a:p>
          <a:p>
            <a:r>
              <a:rPr lang="en-US" dirty="0">
                <a:solidFill>
                  <a:srgbClr val="FF0000"/>
                </a:solidFill>
              </a:rPr>
              <a:t>Remove Stop Words</a:t>
            </a:r>
          </a:p>
          <a:p>
            <a:r>
              <a:rPr lang="en-US" dirty="0">
                <a:solidFill>
                  <a:srgbClr val="FF0000"/>
                </a:solidFill>
              </a:rPr>
              <a:t>Remove Numbers</a:t>
            </a:r>
          </a:p>
          <a:p>
            <a:r>
              <a:rPr lang="en-US" dirty="0">
                <a:solidFill>
                  <a:srgbClr val="FF0000"/>
                </a:solidFill>
              </a:rPr>
              <a:t>Stemming: cuts words down to their base form (e.g., "running" becomes "run").</a:t>
            </a:r>
          </a:p>
          <a:p>
            <a:r>
              <a:rPr lang="en-US" dirty="0">
                <a:solidFill>
                  <a:srgbClr val="FF0000"/>
                </a:solidFill>
              </a:rPr>
              <a:t>Lemmatization: converts words to their root (e.g., "better" becomes "good").</a:t>
            </a:r>
          </a:p>
          <a:p>
            <a:r>
              <a:rPr lang="en-US" dirty="0">
                <a:solidFill>
                  <a:srgbClr val="FF0000"/>
                </a:solidFill>
              </a:rPr>
              <a:t>Tokenization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79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FF47-3D6E-4749-8FEB-E086B31D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EEF0-6D20-2AFF-28D5-864FB12E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 Cleaning</a:t>
            </a:r>
            <a:r>
              <a:rPr lang="en-US" dirty="0">
                <a:solidFill>
                  <a:srgbClr val="FF0000"/>
                </a:solidFill>
              </a:rPr>
              <a:t> – Cleaning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029FB-B6E1-D9FE-133E-8D9A5B5A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Remove Punctuation &amp; Special Characters: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df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['Text'] =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df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['Text'].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str.replace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('[^a-zA-Z0-9\s]', '', regex=True)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Convert to Lowercase: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 =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['Text'].</a:t>
            </a:r>
            <a:r>
              <a:rPr lang="en-US" dirty="0" err="1">
                <a:solidFill>
                  <a:srgbClr val="FF0000"/>
                </a:solidFill>
              </a:rPr>
              <a:t>str.lower</a:t>
            </a:r>
            <a:r>
              <a:rPr lang="en-US" dirty="0">
                <a:solidFill>
                  <a:srgbClr val="FF0000"/>
                </a:solidFill>
              </a:rPr>
              <a:t>()</a:t>
            </a:r>
          </a:p>
          <a:p>
            <a:r>
              <a:rPr lang="en-US" dirty="0">
                <a:solidFill>
                  <a:srgbClr val="FF0000"/>
                </a:solidFill>
              </a:rPr>
              <a:t>Remove Extra Whitespace: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 =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['Text'].</a:t>
            </a:r>
            <a:r>
              <a:rPr lang="en-US" dirty="0" err="1">
                <a:solidFill>
                  <a:srgbClr val="FF0000"/>
                </a:solidFill>
              </a:rPr>
              <a:t>str.strip</a:t>
            </a:r>
            <a:r>
              <a:rPr lang="en-US" dirty="0">
                <a:solidFill>
                  <a:srgbClr val="FF0000"/>
                </a:solidFill>
              </a:rPr>
              <a:t>() or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 =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['Text'].</a:t>
            </a:r>
            <a:r>
              <a:rPr lang="en-US" dirty="0" err="1">
                <a:solidFill>
                  <a:srgbClr val="FF0000"/>
                </a:solidFill>
              </a:rPr>
              <a:t>str.replace</a:t>
            </a:r>
            <a:r>
              <a:rPr lang="en-US" dirty="0">
                <a:solidFill>
                  <a:srgbClr val="FF0000"/>
                </a:solidFill>
              </a:rPr>
              <a:t>(r'\s+', ' ', regex=True)</a:t>
            </a:r>
          </a:p>
          <a:p>
            <a:r>
              <a:rPr lang="en-US" dirty="0">
                <a:solidFill>
                  <a:srgbClr val="FF0000"/>
                </a:solidFill>
              </a:rPr>
              <a:t>Remove Stop Words</a:t>
            </a:r>
          </a:p>
          <a:p>
            <a:r>
              <a:rPr lang="en-US" dirty="0">
                <a:solidFill>
                  <a:srgbClr val="FF0000"/>
                </a:solidFill>
              </a:rPr>
              <a:t>Remove Numbers: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 =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['Text'].</a:t>
            </a:r>
            <a:r>
              <a:rPr lang="en-US" dirty="0" err="1">
                <a:solidFill>
                  <a:srgbClr val="FF0000"/>
                </a:solidFill>
              </a:rPr>
              <a:t>str.replace</a:t>
            </a:r>
            <a:r>
              <a:rPr lang="en-US" dirty="0">
                <a:solidFill>
                  <a:srgbClr val="FF0000"/>
                </a:solidFill>
              </a:rPr>
              <a:t>('\d+', '', regex=True)</a:t>
            </a:r>
          </a:p>
          <a:p>
            <a:r>
              <a:rPr lang="en-US" dirty="0">
                <a:solidFill>
                  <a:srgbClr val="FF0000"/>
                </a:solidFill>
              </a:rPr>
              <a:t>Stemming: cuts words down to their base form (e.g., "running" becomes "run").</a:t>
            </a:r>
          </a:p>
          <a:p>
            <a:r>
              <a:rPr lang="en-US" dirty="0">
                <a:solidFill>
                  <a:srgbClr val="FF0000"/>
                </a:solidFill>
              </a:rPr>
              <a:t>Lemmatization: converts words to their root (e.g., "better" becomes "good").</a:t>
            </a:r>
          </a:p>
          <a:p>
            <a:r>
              <a:rPr lang="en-US" dirty="0">
                <a:solidFill>
                  <a:srgbClr val="FF0000"/>
                </a:solidFill>
              </a:rPr>
              <a:t>Tokenization: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 =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['Text'].apply(lambda x: </a:t>
            </a:r>
            <a:r>
              <a:rPr lang="en-US" dirty="0" err="1">
                <a:solidFill>
                  <a:srgbClr val="FF0000"/>
                </a:solidFill>
              </a:rPr>
              <a:t>x.split</a:t>
            </a:r>
            <a:r>
              <a:rPr lang="en-US" dirty="0">
                <a:solidFill>
                  <a:srgbClr val="FF0000"/>
                </a:solidFill>
              </a:rPr>
              <a:t>())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165FE-7245-74F8-DF3A-04F81D541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B27A-EF23-6840-DB6D-680A64303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Scaling and Normalization</a:t>
            </a:r>
          </a:p>
          <a:p>
            <a:r>
              <a:rPr lang="en-US" dirty="0"/>
              <a:t>Encoding Categorical Data</a:t>
            </a:r>
          </a:p>
          <a:p>
            <a:r>
              <a:rPr lang="en-US" dirty="0"/>
              <a:t>Feature Engineering</a:t>
            </a:r>
          </a:p>
          <a:p>
            <a:pPr lvl="1"/>
            <a:r>
              <a:rPr lang="en-US" dirty="0"/>
              <a:t>Feature Creation</a:t>
            </a:r>
          </a:p>
          <a:p>
            <a:pPr lvl="1"/>
            <a:r>
              <a:rPr lang="en-US" dirty="0"/>
              <a:t>Feature Transformation</a:t>
            </a:r>
          </a:p>
          <a:p>
            <a:pPr lvl="1"/>
            <a:r>
              <a:rPr lang="en-US" dirty="0"/>
              <a:t>Feature Selection</a:t>
            </a:r>
          </a:p>
          <a:p>
            <a:pPr lvl="1"/>
            <a:r>
              <a:rPr lang="en-US" dirty="0"/>
              <a:t>Feature Extraction</a:t>
            </a:r>
          </a:p>
          <a:p>
            <a:r>
              <a:rPr lang="en-US" dirty="0"/>
              <a:t>Handling Outliers</a:t>
            </a:r>
          </a:p>
          <a:p>
            <a:r>
              <a:rPr lang="en-US" dirty="0"/>
              <a:t>Discretization</a:t>
            </a:r>
          </a:p>
        </p:txBody>
      </p:sp>
    </p:spTree>
    <p:extLst>
      <p:ext uri="{BB962C8B-B14F-4D97-AF65-F5344CB8AC3E}">
        <p14:creationId xmlns:p14="http://schemas.microsoft.com/office/powerpoint/2010/main" val="2214903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8D3B-261A-CDBB-3364-31344AEE0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2A23-3F0F-65F3-852D-95BF630C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– </a:t>
            </a:r>
            <a:r>
              <a:rPr lang="en-US" dirty="0"/>
              <a:t>Scaling &amp; Normalization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D98E-FDBB-2E04-EF6D-A69E1F8C7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Normalization:</a:t>
            </a:r>
            <a:r>
              <a:rPr lang="en-US" dirty="0"/>
              <a:t> rescales the features so that their norm (L1 or L2) is equal to 1. Good for sparse data.</a:t>
            </a:r>
          </a:p>
          <a:p>
            <a:pPr marL="0" indent="0" algn="ctr">
              <a:buNone/>
            </a:pPr>
            <a:r>
              <a:rPr lang="en-US" dirty="0" err="1"/>
              <a:t>X</a:t>
            </a:r>
            <a:r>
              <a:rPr lang="en-US" baseline="-25000" dirty="0" err="1"/>
              <a:t>normalized</a:t>
            </a:r>
            <a:r>
              <a:rPr lang="en-US" baseline="-25000" dirty="0"/>
              <a:t>​ </a:t>
            </a:r>
            <a:r>
              <a:rPr lang="en-US" dirty="0"/>
              <a:t>= ​X / ∥X∥</a:t>
            </a:r>
            <a:r>
              <a:rPr lang="en-US" baseline="-25000" dirty="0"/>
              <a:t>1  or </a:t>
            </a:r>
            <a:r>
              <a:rPr lang="en-US" dirty="0" err="1"/>
              <a:t>X</a:t>
            </a:r>
            <a:r>
              <a:rPr lang="en-US" baseline="-25000" dirty="0" err="1"/>
              <a:t>normalized</a:t>
            </a:r>
            <a:r>
              <a:rPr lang="en-US" baseline="-25000" dirty="0"/>
              <a:t>​ </a:t>
            </a:r>
            <a:r>
              <a:rPr lang="en-US" dirty="0"/>
              <a:t>= ​X / ∥X∥</a:t>
            </a:r>
            <a:r>
              <a:rPr lang="en-US" baseline="-25000" dirty="0"/>
              <a:t>2</a:t>
            </a:r>
            <a:endParaRPr lang="en-US" b="1" dirty="0"/>
          </a:p>
          <a:p>
            <a:r>
              <a:rPr lang="en-US" b="1" dirty="0"/>
              <a:t>Min-Max Scaling</a:t>
            </a:r>
            <a:r>
              <a:rPr lang="en-US" dirty="0"/>
              <a:t>: transforms the data into a specific range, [0, 1]. Better for k-NN and ANN.</a:t>
            </a:r>
          </a:p>
          <a:p>
            <a:pPr marL="0" indent="0" algn="ctr">
              <a:buNone/>
            </a:pPr>
            <a:r>
              <a:rPr lang="en-US" dirty="0" err="1"/>
              <a:t>X</a:t>
            </a:r>
            <a:r>
              <a:rPr lang="en-US" baseline="-25000" dirty="0" err="1"/>
              <a:t>scaled</a:t>
            </a:r>
            <a:r>
              <a:rPr lang="en-US" dirty="0"/>
              <a:t>​ = (​X − 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dirty="0"/>
              <a:t>) / (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dirty="0"/>
              <a:t>​− </a:t>
            </a:r>
            <a:r>
              <a:rPr lang="en-US" dirty="0" err="1"/>
              <a:t>X</a:t>
            </a:r>
            <a:r>
              <a:rPr lang="en-US" baseline="-25000" dirty="0" err="1"/>
              <a:t>min</a:t>
            </a:r>
            <a:r>
              <a:rPr lang="en-US" dirty="0"/>
              <a:t>)​​</a:t>
            </a:r>
          </a:p>
          <a:p>
            <a:r>
              <a:rPr lang="en-US" dirty="0"/>
              <a:t> </a:t>
            </a:r>
            <a:r>
              <a:rPr lang="en-US" b="1" dirty="0"/>
              <a:t>Standardization (Z-score Normalization): </a:t>
            </a:r>
            <a:r>
              <a:rPr lang="en-US" dirty="0"/>
              <a:t>rescales the data to have a mean of 0 and standard deviation of 1. It is for normally distributed data when using Logistic Regression, SVM, or Principal Component Analysis.</a:t>
            </a:r>
          </a:p>
          <a:p>
            <a:pPr marL="0" indent="0" algn="ctr">
              <a:buNone/>
            </a:pPr>
            <a:r>
              <a:rPr lang="en-US" dirty="0" err="1"/>
              <a:t>X</a:t>
            </a:r>
            <a:r>
              <a:rPr lang="en-US" baseline="-25000" dirty="0" err="1"/>
              <a:t>scaled</a:t>
            </a:r>
            <a:r>
              <a:rPr lang="en-US" dirty="0"/>
              <a:t>​ = (X−</a:t>
            </a:r>
            <a:r>
              <a:rPr lang="el-GR" dirty="0"/>
              <a:t>μ​</a:t>
            </a:r>
            <a:r>
              <a:rPr lang="en-US" dirty="0"/>
              <a:t>) / </a:t>
            </a:r>
            <a:r>
              <a:rPr lang="el-GR" dirty="0"/>
              <a:t>σ </a:t>
            </a:r>
          </a:p>
          <a:p>
            <a:r>
              <a:rPr lang="en-US" b="1" dirty="0" err="1"/>
              <a:t>MaxAbs</a:t>
            </a:r>
            <a:r>
              <a:rPr lang="en-US" b="1" dirty="0"/>
              <a:t> Scaling:</a:t>
            </a:r>
            <a:r>
              <a:rPr lang="en-US" dirty="0"/>
              <a:t> Keeps sign of data. Ensures [-1, 1]. Useful for sparse data or to keep zero value intact. </a:t>
            </a:r>
          </a:p>
          <a:p>
            <a:pPr marL="0" indent="0" algn="ctr">
              <a:buNone/>
            </a:pPr>
            <a:r>
              <a:rPr lang="en-US" dirty="0" err="1"/>
              <a:t>X</a:t>
            </a:r>
            <a:r>
              <a:rPr lang="en-US" baseline="-25000" dirty="0" err="1"/>
              <a:t>scaled</a:t>
            </a:r>
            <a:r>
              <a:rPr lang="en-US" dirty="0"/>
              <a:t>​ = X​ / ∣</a:t>
            </a:r>
            <a:r>
              <a:rPr lang="en-US" dirty="0" err="1"/>
              <a:t>X</a:t>
            </a:r>
            <a:r>
              <a:rPr lang="en-US" baseline="-25000" dirty="0" err="1"/>
              <a:t>max</a:t>
            </a:r>
            <a:r>
              <a:rPr lang="en-US" baseline="-25000" dirty="0"/>
              <a:t>​</a:t>
            </a:r>
            <a:r>
              <a:rPr lang="en-US" dirty="0"/>
              <a:t>∣</a:t>
            </a:r>
          </a:p>
          <a:p>
            <a:r>
              <a:rPr lang="en-US" b="1" dirty="0">
                <a:solidFill>
                  <a:srgbClr val="FF0000"/>
                </a:solidFill>
              </a:rPr>
              <a:t>Log Transformation:</a:t>
            </a:r>
            <a:r>
              <a:rPr lang="en-US" dirty="0">
                <a:solidFill>
                  <a:srgbClr val="FF0000"/>
                </a:solidFill>
              </a:rPr>
              <a:t> to compress the range of values, especially when the data is heavily skewed or has large differences in magnitude.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FF0000"/>
                </a:solidFill>
              </a:rPr>
              <a:t>X</a:t>
            </a:r>
            <a:r>
              <a:rPr lang="en-US" baseline="-25000" dirty="0" err="1">
                <a:solidFill>
                  <a:srgbClr val="FF0000"/>
                </a:solidFill>
              </a:rPr>
              <a:t>scaled</a:t>
            </a:r>
            <a:r>
              <a:rPr lang="en-US" dirty="0">
                <a:solidFill>
                  <a:srgbClr val="FF0000"/>
                </a:solidFill>
              </a:rPr>
              <a:t>​ = log(X+1)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21824-2BB4-BA9B-C20D-7B0EE3C21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744" y="3841688"/>
            <a:ext cx="1647513" cy="63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46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8735-4B2B-74D2-9CD2-95793F3F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A05B6C-7E05-7A3B-5001-12AE4DCAA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37645"/>
              </p:ext>
            </p:extLst>
          </p:nvPr>
        </p:nvGraphicFramePr>
        <p:xfrm>
          <a:off x="1088029" y="1915787"/>
          <a:ext cx="10015941" cy="38903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4233">
                  <a:extLst>
                    <a:ext uri="{9D8B030D-6E8A-4147-A177-3AD203B41FA5}">
                      <a16:colId xmlns:a16="http://schemas.microsoft.com/office/drawing/2014/main" val="1169939785"/>
                    </a:ext>
                  </a:extLst>
                </a:gridCol>
                <a:gridCol w="1224233">
                  <a:extLst>
                    <a:ext uri="{9D8B030D-6E8A-4147-A177-3AD203B41FA5}">
                      <a16:colId xmlns:a16="http://schemas.microsoft.com/office/drawing/2014/main" val="3921328649"/>
                    </a:ext>
                  </a:extLst>
                </a:gridCol>
                <a:gridCol w="1471623">
                  <a:extLst>
                    <a:ext uri="{9D8B030D-6E8A-4147-A177-3AD203B41FA5}">
                      <a16:colId xmlns:a16="http://schemas.microsoft.com/office/drawing/2014/main" val="3278705554"/>
                    </a:ext>
                  </a:extLst>
                </a:gridCol>
                <a:gridCol w="1471623">
                  <a:extLst>
                    <a:ext uri="{9D8B030D-6E8A-4147-A177-3AD203B41FA5}">
                      <a16:colId xmlns:a16="http://schemas.microsoft.com/office/drawing/2014/main" val="4103847552"/>
                    </a:ext>
                  </a:extLst>
                </a:gridCol>
                <a:gridCol w="1424178">
                  <a:extLst>
                    <a:ext uri="{9D8B030D-6E8A-4147-A177-3AD203B41FA5}">
                      <a16:colId xmlns:a16="http://schemas.microsoft.com/office/drawing/2014/main" val="2910052272"/>
                    </a:ext>
                  </a:extLst>
                </a:gridCol>
                <a:gridCol w="1653754">
                  <a:extLst>
                    <a:ext uri="{9D8B030D-6E8A-4147-A177-3AD203B41FA5}">
                      <a16:colId xmlns:a16="http://schemas.microsoft.com/office/drawing/2014/main" val="2200276942"/>
                    </a:ext>
                  </a:extLst>
                </a:gridCol>
                <a:gridCol w="1546297">
                  <a:extLst>
                    <a:ext uri="{9D8B030D-6E8A-4147-A177-3AD203B41FA5}">
                      <a16:colId xmlns:a16="http://schemas.microsoft.com/office/drawing/2014/main" val="3340846747"/>
                    </a:ext>
                  </a:extLst>
                </a:gridCol>
              </a:tblGrid>
              <a:tr h="7344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Age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(L1 Norm)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Height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(L2 Norm)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Score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MaxAbs</a:t>
                      </a: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Experience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(Z-Score)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Rating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(Min-Max)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7782123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Ali</a:t>
                      </a:r>
                      <a:endParaRPr lang="en-US" sz="1600" dirty="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Male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25.00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5.60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88.0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6989317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Sara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Female</a:t>
                      </a:r>
                      <a:endParaRPr lang="en-US" sz="1600" b="1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27.25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86.5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7863522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John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Male</a:t>
                      </a:r>
                      <a:endParaRPr lang="en-US" sz="1600" b="1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28.00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5.80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85.0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2202309"/>
                  </a:ext>
                </a:extLst>
              </a:tr>
              <a:tr h="7344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Aisha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Female</a:t>
                      </a:r>
                      <a:endParaRPr lang="en-US" sz="1600" b="1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27.25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90.0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7829637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Tom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Male</a:t>
                      </a:r>
                      <a:endParaRPr lang="en-US" sz="1600" b="1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30.00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92.5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299298"/>
                  </a:ext>
                </a:extLst>
              </a:tr>
              <a:tr h="4842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Zara</a:t>
                      </a:r>
                      <a:endParaRPr lang="en-US" sz="1600"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Female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lt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21494" marR="121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26.00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5.50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95.0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6.0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4562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061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C22F9-1914-12A4-C4C6-9EBA4E18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– </a:t>
            </a:r>
            <a:r>
              <a:rPr lang="en-US" dirty="0"/>
              <a:t>Scaling &amp; Normalization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2B5CC-50E2-C9E4-DBB6-7AD73EADE3B8}"/>
              </a:ext>
            </a:extLst>
          </p:cNvPr>
          <p:cNvSpPr txBox="1"/>
          <p:nvPr/>
        </p:nvSpPr>
        <p:spPr>
          <a:xfrm>
            <a:off x="838200" y="3429000"/>
            <a:ext cx="48156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Min-Max Scaling:</a:t>
            </a:r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MinMaxScaler</a:t>
            </a:r>
            <a:endParaRPr lang="en-US" dirty="0"/>
          </a:p>
          <a:p>
            <a:r>
              <a:rPr lang="en-US" dirty="0"/>
              <a:t>scaler = </a:t>
            </a:r>
            <a:r>
              <a:rPr lang="en-US" dirty="0" err="1"/>
              <a:t>MinMaxScaler</a:t>
            </a:r>
            <a:r>
              <a:rPr lang="en-US" dirty="0"/>
              <a:t>()</a:t>
            </a:r>
          </a:p>
          <a:p>
            <a:r>
              <a:rPr lang="en-US" dirty="0" err="1"/>
              <a:t>df_scaled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21D6B-CD8A-CEAE-0C49-DE1D7B0F109F}"/>
              </a:ext>
            </a:extLst>
          </p:cNvPr>
          <p:cNvSpPr txBox="1"/>
          <p:nvPr/>
        </p:nvSpPr>
        <p:spPr>
          <a:xfrm>
            <a:off x="838200" y="5026681"/>
            <a:ext cx="48823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Z-Score Standardization:</a:t>
            </a:r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StandardScaler</a:t>
            </a:r>
            <a:endParaRPr lang="en-US" dirty="0"/>
          </a:p>
          <a:p>
            <a:r>
              <a:rPr lang="en-US" dirty="0"/>
              <a:t>scaler = </a:t>
            </a:r>
            <a:r>
              <a:rPr lang="en-US" dirty="0" err="1"/>
              <a:t>StandardScaler</a:t>
            </a:r>
            <a:r>
              <a:rPr lang="en-US" dirty="0"/>
              <a:t>()</a:t>
            </a:r>
          </a:p>
          <a:p>
            <a:r>
              <a:rPr lang="en-US" dirty="0" err="1"/>
              <a:t>df_scaled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A3C5F-4635-2FB7-4E12-9E2E491A27A5}"/>
              </a:ext>
            </a:extLst>
          </p:cNvPr>
          <p:cNvSpPr txBox="1"/>
          <p:nvPr/>
        </p:nvSpPr>
        <p:spPr>
          <a:xfrm>
            <a:off x="6566527" y="1885293"/>
            <a:ext cx="4787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MaxAbs</a:t>
            </a:r>
            <a:r>
              <a:rPr lang="en-US" b="1" dirty="0"/>
              <a:t> Scaling:</a:t>
            </a:r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MaxAbsScaler</a:t>
            </a:r>
            <a:endParaRPr lang="en-US" dirty="0"/>
          </a:p>
          <a:p>
            <a:r>
              <a:rPr lang="en-US" dirty="0"/>
              <a:t>scaler = </a:t>
            </a:r>
            <a:r>
              <a:rPr lang="en-US" dirty="0" err="1"/>
              <a:t>MaxAbsScaler</a:t>
            </a:r>
            <a:r>
              <a:rPr lang="en-US" dirty="0"/>
              <a:t>()</a:t>
            </a:r>
          </a:p>
          <a:p>
            <a:r>
              <a:rPr lang="en-US" dirty="0" err="1"/>
              <a:t>df_scaled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BD141-1BC3-A1E3-ECCB-CB35E2515434}"/>
              </a:ext>
            </a:extLst>
          </p:cNvPr>
          <p:cNvSpPr txBox="1"/>
          <p:nvPr/>
        </p:nvSpPr>
        <p:spPr>
          <a:xfrm>
            <a:off x="838200" y="1885294"/>
            <a:ext cx="4511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Normalization: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Normalizer</a:t>
            </a:r>
          </a:p>
          <a:p>
            <a:r>
              <a:rPr lang="en-US" dirty="0"/>
              <a:t>scaler = Normalizer(norm='l2')</a:t>
            </a:r>
          </a:p>
          <a:p>
            <a:r>
              <a:rPr lang="en-US" dirty="0" err="1"/>
              <a:t>df_scaled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ABEE6-8B83-09A8-128E-8A6F5644D26A}"/>
              </a:ext>
            </a:extLst>
          </p:cNvPr>
          <p:cNvSpPr txBox="1"/>
          <p:nvPr/>
        </p:nvSpPr>
        <p:spPr>
          <a:xfrm>
            <a:off x="6566527" y="3429000"/>
            <a:ext cx="40020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Log Transformation:</a:t>
            </a:r>
          </a:p>
          <a:p>
            <a:r>
              <a:rPr lang="en-US" dirty="0">
                <a:solidFill>
                  <a:srgbClr val="FF0000"/>
                </a:solidFill>
              </a:rPr>
              <a:t>import </a:t>
            </a:r>
            <a:r>
              <a:rPr lang="en-US" dirty="0" err="1">
                <a:solidFill>
                  <a:srgbClr val="FF0000"/>
                </a:solidFill>
              </a:rPr>
              <a:t>numpy</a:t>
            </a:r>
            <a:r>
              <a:rPr lang="en-US" dirty="0">
                <a:solidFill>
                  <a:srgbClr val="FF0000"/>
                </a:solidFill>
              </a:rPr>
              <a:t> as np</a:t>
            </a:r>
          </a:p>
          <a:p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</a:t>
            </a:r>
            <a:r>
              <a:rPr lang="en-US" dirty="0" err="1">
                <a:solidFill>
                  <a:srgbClr val="FF0000"/>
                </a:solidFill>
              </a:rPr>
              <a:t>log_feature</a:t>
            </a:r>
            <a:r>
              <a:rPr lang="en-US" dirty="0">
                <a:solidFill>
                  <a:srgbClr val="FF0000"/>
                </a:solidFill>
              </a:rPr>
              <a:t>'] = np.log1p(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['feature'])</a:t>
            </a:r>
          </a:p>
        </p:txBody>
      </p:sp>
    </p:spTree>
    <p:extLst>
      <p:ext uri="{BB962C8B-B14F-4D97-AF65-F5344CB8AC3E}">
        <p14:creationId xmlns:p14="http://schemas.microsoft.com/office/powerpoint/2010/main" val="323176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E308D-3A65-7B30-BF3C-671698AF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</a:t>
            </a:r>
            <a:r>
              <a:rPr lang="en-US" dirty="0"/>
              <a:t>– Encoding 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2BEC3-BCCA-C4CA-8FBA-DEC7A6718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Standardizing categorical data: “Male" vs "male“</a:t>
            </a:r>
          </a:p>
          <a:p>
            <a:r>
              <a:rPr lang="en-US" dirty="0"/>
              <a:t>Categorical Data Encoding</a:t>
            </a:r>
          </a:p>
          <a:p>
            <a:pPr lvl="1"/>
            <a:r>
              <a:rPr lang="en-US" b="1" dirty="0"/>
              <a:t>Label Encoding</a:t>
            </a:r>
            <a:r>
              <a:rPr lang="en-US" dirty="0"/>
              <a:t>: Converts each unique category into an integer.</a:t>
            </a:r>
          </a:p>
          <a:p>
            <a:pPr lvl="1"/>
            <a:r>
              <a:rPr lang="en-US" b="1" dirty="0"/>
              <a:t>Ordinal Encoding</a:t>
            </a:r>
            <a:r>
              <a:rPr lang="en-US" dirty="0"/>
              <a:t>: Like label encoding but explicitly preserves order.</a:t>
            </a:r>
          </a:p>
          <a:p>
            <a:pPr lvl="1"/>
            <a:r>
              <a:rPr lang="en-US" b="1" dirty="0"/>
              <a:t>One-Hot Encoding</a:t>
            </a:r>
            <a:r>
              <a:rPr lang="en-US" dirty="0"/>
              <a:t>: Creates a binary column for each category.</a:t>
            </a:r>
          </a:p>
          <a:p>
            <a:pPr lvl="1"/>
            <a:r>
              <a:rPr lang="en-US" b="1" dirty="0"/>
              <a:t>Binary Encoding</a:t>
            </a:r>
            <a:r>
              <a:rPr lang="en-US" dirty="0"/>
              <a:t>: Converts categories into binary numbers and splits them into separate columns.</a:t>
            </a:r>
          </a:p>
          <a:p>
            <a:pPr lvl="1"/>
            <a:r>
              <a:rPr lang="en-US" b="1" dirty="0"/>
              <a:t>Target (mean) Encoding</a:t>
            </a:r>
            <a:r>
              <a:rPr lang="en-US" dirty="0"/>
              <a:t>: Replace each category with the mean of the target variable against each category.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Frequency Encoding</a:t>
            </a:r>
            <a:r>
              <a:rPr lang="en-US" dirty="0">
                <a:solidFill>
                  <a:srgbClr val="FF0000"/>
                </a:solidFill>
              </a:rPr>
              <a:t>: Replace each category with its frequency count or proportion in the dataset.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Count Encoding</a:t>
            </a:r>
            <a:r>
              <a:rPr lang="en-US" dirty="0">
                <a:solidFill>
                  <a:srgbClr val="FF0000"/>
                </a:solidFill>
              </a:rPr>
              <a:t>: Same as frequency encoding but keeps raw count instead of proportion.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Hashing Encoding</a:t>
            </a:r>
            <a:r>
              <a:rPr lang="en-US" dirty="0">
                <a:solidFill>
                  <a:srgbClr val="FF0000"/>
                </a:solidFill>
              </a:rPr>
              <a:t>: Uses a hash function to assign categories to a fixed number (2/3/etc.) of columns.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565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C996-7648-B872-C21D-F3DFDAA6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– </a:t>
            </a:r>
            <a:r>
              <a:rPr lang="en-US" dirty="0"/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641B-2E28-C258-ED35-3C097189D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Creation: </a:t>
            </a:r>
          </a:p>
          <a:p>
            <a:pPr lvl="1"/>
            <a:r>
              <a:rPr lang="en-US" dirty="0"/>
              <a:t>Extracting year, month, day from a datetime column.</a:t>
            </a:r>
          </a:p>
          <a:p>
            <a:pPr lvl="1"/>
            <a:r>
              <a:rPr lang="en-US" dirty="0"/>
              <a:t>Creating interaction terms: price * quantity = revenue.</a:t>
            </a:r>
          </a:p>
          <a:p>
            <a:pPr lvl="1"/>
            <a:r>
              <a:rPr lang="en-US" dirty="0"/>
              <a:t>Combining text features: </a:t>
            </a:r>
            <a:r>
              <a:rPr lang="en-US" dirty="0" err="1"/>
              <a:t>first_name</a:t>
            </a:r>
            <a:r>
              <a:rPr lang="en-US" dirty="0"/>
              <a:t> + </a:t>
            </a:r>
            <a:r>
              <a:rPr lang="en-US" dirty="0" err="1"/>
              <a:t>last_name</a:t>
            </a:r>
            <a:r>
              <a:rPr lang="en-US" dirty="0"/>
              <a:t> = </a:t>
            </a:r>
            <a:r>
              <a:rPr lang="en-US" dirty="0" err="1"/>
              <a:t>full_name</a:t>
            </a:r>
            <a:endParaRPr lang="en-US" dirty="0"/>
          </a:p>
          <a:p>
            <a:r>
              <a:rPr lang="en-US" dirty="0"/>
              <a:t>Feature Transformation: </a:t>
            </a:r>
          </a:p>
          <a:p>
            <a:pPr lvl="1"/>
            <a:r>
              <a:rPr lang="en-US" dirty="0"/>
              <a:t>Log transformation to handle skewed data.</a:t>
            </a:r>
          </a:p>
          <a:p>
            <a:pPr lvl="1"/>
            <a:r>
              <a:rPr lang="en-US" dirty="0"/>
              <a:t>Polynomial features (e.g., x², x³ for regression).</a:t>
            </a:r>
          </a:p>
        </p:txBody>
      </p:sp>
    </p:spTree>
    <p:extLst>
      <p:ext uri="{BB962C8B-B14F-4D97-AF65-F5344CB8AC3E}">
        <p14:creationId xmlns:p14="http://schemas.microsoft.com/office/powerpoint/2010/main" val="146926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EF64-B1FE-8BC6-CEAD-4B236D6F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16B6-B2A2-989E-DFE9-8C2ED24D5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– </a:t>
            </a:r>
            <a:r>
              <a:rPr lang="en-US" dirty="0"/>
              <a:t>Feature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278BD-DF1D-F9C4-4150-2571B51FE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 Extraction</a:t>
            </a:r>
            <a:r>
              <a:rPr lang="en-US" dirty="0"/>
              <a:t>: Automatically transforming raw data into a lower-dimensional space while preserving the most important information.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Numerical Data</a:t>
            </a:r>
            <a:r>
              <a:rPr lang="en-US" dirty="0">
                <a:solidFill>
                  <a:srgbClr val="FF0000"/>
                </a:solidFill>
              </a:rPr>
              <a:t>: PCA, LDA, Autoencoders, etc.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Text Data</a:t>
            </a:r>
            <a:r>
              <a:rPr lang="en-US" dirty="0">
                <a:solidFill>
                  <a:srgbClr val="FF0000"/>
                </a:solidFill>
              </a:rPr>
              <a:t>: Bag of Words, TF-IDF, Word2Vec, </a:t>
            </a:r>
            <a:r>
              <a:rPr lang="en-US" dirty="0" err="1">
                <a:solidFill>
                  <a:srgbClr val="FF0000"/>
                </a:solidFill>
              </a:rPr>
              <a:t>GloVe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FastText</a:t>
            </a:r>
            <a:r>
              <a:rPr lang="en-US" dirty="0">
                <a:solidFill>
                  <a:srgbClr val="FF0000"/>
                </a:solidFill>
              </a:rPr>
              <a:t>, BERT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Image Data</a:t>
            </a:r>
            <a:r>
              <a:rPr lang="en-US" dirty="0">
                <a:solidFill>
                  <a:srgbClr val="FF0000"/>
                </a:solidFill>
              </a:rPr>
              <a:t>: CNNs, HOG, SIFT/SURF, etc.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Audio/Time Series Data: </a:t>
            </a:r>
            <a:r>
              <a:rPr lang="en-US" dirty="0">
                <a:solidFill>
                  <a:srgbClr val="FF0000"/>
                </a:solidFill>
              </a:rPr>
              <a:t>FFT, MFCC, Rolling Statistics  </a:t>
            </a:r>
          </a:p>
        </p:txBody>
      </p:sp>
    </p:spTree>
    <p:extLst>
      <p:ext uri="{BB962C8B-B14F-4D97-AF65-F5344CB8AC3E}">
        <p14:creationId xmlns:p14="http://schemas.microsoft.com/office/powerpoint/2010/main" val="2246363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14CD-4FA7-BB70-C3DB-CD17C26C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73B29-2AB4-6446-5F28-55A4AD0B1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</a:t>
            </a:r>
            <a:r>
              <a:rPr lang="en-US" dirty="0"/>
              <a:t>– Discretization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65B9-750D-8036-E1EE-174F7FE80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of converting continuous numerical features into discrete (categorical) bins or intervals.</a:t>
            </a:r>
          </a:p>
          <a:p>
            <a:pPr lvl="1"/>
            <a:r>
              <a:rPr lang="en-US" b="1" dirty="0"/>
              <a:t>Equal Width Binning </a:t>
            </a:r>
            <a:r>
              <a:rPr lang="en-US" dirty="0"/>
              <a:t>(Uniform Binning)</a:t>
            </a:r>
          </a:p>
          <a:p>
            <a:pPr lvl="1"/>
            <a:r>
              <a:rPr lang="en-US" b="1" dirty="0"/>
              <a:t>Equal Frequency Binning</a:t>
            </a:r>
            <a:r>
              <a:rPr lang="en-US" dirty="0"/>
              <a:t> (Quantile Binning): bins with equal number of rows per bin.</a:t>
            </a:r>
          </a:p>
          <a:p>
            <a:pPr lvl="1"/>
            <a:r>
              <a:rPr lang="en-US" b="1" dirty="0"/>
              <a:t>Custom Binning: </a:t>
            </a:r>
            <a:r>
              <a:rPr lang="en-US" dirty="0"/>
              <a:t>Teen (0–25), Young (26–40), Adult (41–60), Senior (61+)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KMeans</a:t>
            </a:r>
            <a:r>
              <a:rPr lang="en-US" dirty="0">
                <a:solidFill>
                  <a:srgbClr val="FF0000"/>
                </a:solidFill>
              </a:rPr>
              <a:t> Binning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Decision Tree Binning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92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0553E-A972-BBE7-3FEC-8931DF7C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Binning Example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D4AA7D-25BE-1FEF-3744-A27B8A8D0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434029"/>
              </p:ext>
            </p:extLst>
          </p:nvPr>
        </p:nvGraphicFramePr>
        <p:xfrm>
          <a:off x="438731" y="1703586"/>
          <a:ext cx="2451099" cy="2194560"/>
        </p:xfrm>
        <a:graphic>
          <a:graphicData uri="http://schemas.openxmlformats.org/drawingml/2006/table">
            <a:tbl>
              <a:tblPr/>
              <a:tblGrid>
                <a:gridCol w="817033">
                  <a:extLst>
                    <a:ext uri="{9D8B030D-6E8A-4147-A177-3AD203B41FA5}">
                      <a16:colId xmlns:a16="http://schemas.microsoft.com/office/drawing/2014/main" val="1938054966"/>
                    </a:ext>
                  </a:extLst>
                </a:gridCol>
                <a:gridCol w="817033">
                  <a:extLst>
                    <a:ext uri="{9D8B030D-6E8A-4147-A177-3AD203B41FA5}">
                      <a16:colId xmlns:a16="http://schemas.microsoft.com/office/drawing/2014/main" val="633646711"/>
                    </a:ext>
                  </a:extLst>
                </a:gridCol>
                <a:gridCol w="817033">
                  <a:extLst>
                    <a:ext uri="{9D8B030D-6E8A-4147-A177-3AD203B41FA5}">
                      <a16:colId xmlns:a16="http://schemas.microsoft.com/office/drawing/2014/main" val="3382951621"/>
                    </a:ext>
                  </a:extLst>
                </a:gridCol>
              </a:tblGrid>
              <a:tr h="254714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106081"/>
                  </a:ext>
                </a:extLst>
              </a:tr>
              <a:tr h="254714"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75067"/>
                  </a:ext>
                </a:extLst>
              </a:tr>
              <a:tr h="254714"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459721"/>
                  </a:ext>
                </a:extLst>
              </a:tr>
              <a:tr h="254714">
                <a:tc>
                  <a:txBody>
                    <a:bodyPr/>
                    <a:lstStyle/>
                    <a:p>
                      <a:r>
                        <a:rPr lang="en-US"/>
                        <a:t>Carol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981847"/>
                  </a:ext>
                </a:extLst>
              </a:tr>
              <a:tr h="254714">
                <a:tc>
                  <a:txBody>
                    <a:bodyPr/>
                    <a:lstStyle/>
                    <a:p>
                      <a:r>
                        <a:rPr lang="en-US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585976"/>
                  </a:ext>
                </a:extLst>
              </a:tr>
              <a:tr h="254714">
                <a:tc>
                  <a:txBody>
                    <a:bodyPr/>
                    <a:lstStyle/>
                    <a:p>
                      <a:r>
                        <a:rPr lang="en-US"/>
                        <a:t>Emma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424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9B453B-8771-DA51-1236-D63E795B00EF}"/>
              </a:ext>
            </a:extLst>
          </p:cNvPr>
          <p:cNvSpPr txBox="1"/>
          <p:nvPr/>
        </p:nvSpPr>
        <p:spPr>
          <a:xfrm>
            <a:off x="4229100" y="261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FE9B8D5-92B5-290C-8AD9-C8EC5C28E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8233" y="1644695"/>
            <a:ext cx="39751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 age: 18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 age: 70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Range = 70 - 18 = 52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bins: 2 (just for simplicity)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 width = 52 / 2 = 26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DEC17BB-59DF-553A-3D9E-C1FC67242D0C}"/>
              </a:ext>
            </a:extLst>
          </p:cNvPr>
          <p:cNvSpPr/>
          <p:nvPr/>
        </p:nvSpPr>
        <p:spPr>
          <a:xfrm>
            <a:off x="3070261" y="166881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56D3F69-315A-C7CB-A80D-D78BC4ABAB8B}"/>
              </a:ext>
            </a:extLst>
          </p:cNvPr>
          <p:cNvSpPr/>
          <p:nvPr/>
        </p:nvSpPr>
        <p:spPr>
          <a:xfrm>
            <a:off x="6889498" y="198974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DFB1DAD-5EFB-2480-0AD9-A63B5930A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550" y="1911128"/>
            <a:ext cx="41084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 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18–44 → Label: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 to Mid-age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 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45–70 → Label: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 to Senior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E130D14-616F-F5D5-9E5E-7474F1369CF4}"/>
              </a:ext>
            </a:extLst>
          </p:cNvPr>
          <p:cNvSpPr/>
          <p:nvPr/>
        </p:nvSpPr>
        <p:spPr>
          <a:xfrm>
            <a:off x="9683034" y="2627594"/>
            <a:ext cx="484632" cy="6571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52F7D1C-9834-DE45-AAF9-08CD45765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7246"/>
              </p:ext>
            </p:extLst>
          </p:nvPr>
        </p:nvGraphicFramePr>
        <p:xfrm>
          <a:off x="5878284" y="3475355"/>
          <a:ext cx="6313716" cy="2194560"/>
        </p:xfrm>
        <a:graphic>
          <a:graphicData uri="http://schemas.openxmlformats.org/drawingml/2006/table">
            <a:tbl>
              <a:tblPr/>
              <a:tblGrid>
                <a:gridCol w="1578429">
                  <a:extLst>
                    <a:ext uri="{9D8B030D-6E8A-4147-A177-3AD203B41FA5}">
                      <a16:colId xmlns:a16="http://schemas.microsoft.com/office/drawing/2014/main" val="2666572645"/>
                    </a:ext>
                  </a:extLst>
                </a:gridCol>
                <a:gridCol w="890453">
                  <a:extLst>
                    <a:ext uri="{9D8B030D-6E8A-4147-A177-3AD203B41FA5}">
                      <a16:colId xmlns:a16="http://schemas.microsoft.com/office/drawing/2014/main" val="1575495163"/>
                    </a:ext>
                  </a:extLst>
                </a:gridCol>
                <a:gridCol w="2266405">
                  <a:extLst>
                    <a:ext uri="{9D8B030D-6E8A-4147-A177-3AD203B41FA5}">
                      <a16:colId xmlns:a16="http://schemas.microsoft.com/office/drawing/2014/main" val="3302428968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1558366297"/>
                    </a:ext>
                  </a:extLst>
                </a:gridCol>
              </a:tblGrid>
              <a:tr h="200641">
                <a:tc>
                  <a:txBody>
                    <a:bodyPr/>
                    <a:lstStyle/>
                    <a:p>
                      <a:r>
                        <a:rPr lang="en-US" b="1" dirty="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Age Group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966395"/>
                  </a:ext>
                </a:extLst>
              </a:tr>
              <a:tr h="351121"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Young to Mid-age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445428"/>
                  </a:ext>
                </a:extLst>
              </a:tr>
              <a:tr h="351121">
                <a:tc>
                  <a:txBody>
                    <a:bodyPr/>
                    <a:lstStyle/>
                    <a:p>
                      <a:r>
                        <a:rPr lang="en-US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Young to Mid-age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623466"/>
                  </a:ext>
                </a:extLst>
              </a:tr>
              <a:tr h="351121">
                <a:tc>
                  <a:txBody>
                    <a:bodyPr/>
                    <a:lstStyle/>
                    <a:p>
                      <a:r>
                        <a:rPr lang="en-US"/>
                        <a:t>Carol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Young to Mid-age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040005"/>
                  </a:ext>
                </a:extLst>
              </a:tr>
              <a:tr h="200641">
                <a:tc>
                  <a:txBody>
                    <a:bodyPr/>
                    <a:lstStyle/>
                    <a:p>
                      <a:r>
                        <a:rPr lang="en-US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Mid to Senior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02398"/>
                  </a:ext>
                </a:extLst>
              </a:tr>
              <a:tr h="200641">
                <a:tc>
                  <a:txBody>
                    <a:bodyPr/>
                    <a:lstStyle/>
                    <a:p>
                      <a:r>
                        <a:rPr lang="en-US"/>
                        <a:t>Emma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Mid to Senior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87161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DA69F2-429E-F54F-99EF-1643CF3B1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67040"/>
              </p:ext>
            </p:extLst>
          </p:nvPr>
        </p:nvGraphicFramePr>
        <p:xfrm>
          <a:off x="190500" y="5154414"/>
          <a:ext cx="5054600" cy="1554480"/>
        </p:xfrm>
        <a:graphic>
          <a:graphicData uri="http://schemas.openxmlformats.org/drawingml/2006/table">
            <a:tbl>
              <a:tblPr/>
              <a:tblGrid>
                <a:gridCol w="2527300">
                  <a:extLst>
                    <a:ext uri="{9D8B030D-6E8A-4147-A177-3AD203B41FA5}">
                      <a16:colId xmlns:a16="http://schemas.microsoft.com/office/drawing/2014/main" val="3698057465"/>
                    </a:ext>
                  </a:extLst>
                </a:gridCol>
                <a:gridCol w="2527300">
                  <a:extLst>
                    <a:ext uri="{9D8B030D-6E8A-4147-A177-3AD203B41FA5}">
                      <a16:colId xmlns:a16="http://schemas.microsoft.com/office/drawing/2014/main" val="1821009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 dirty="0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What to 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333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Decision Tree or 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Use </a:t>
                      </a:r>
                      <a:r>
                        <a:rPr lang="en-US" sz="1200" b="1"/>
                        <a:t>original</a:t>
                      </a:r>
                      <a:r>
                        <a:rPr lang="en-US" sz="1200"/>
                        <a:t> age; they handle splits automatically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604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Logistic Regression or 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Try both, compare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07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Explainable AI / Simpler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Binned version may be better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171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/>
                        <a:t>Very noisy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Binning can </a:t>
                      </a:r>
                      <a:r>
                        <a:rPr lang="en-US" sz="1200" b="1" dirty="0"/>
                        <a:t>smooth</a:t>
                      </a:r>
                      <a:r>
                        <a:rPr lang="en-US" sz="1200" dirty="0"/>
                        <a:t> the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948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191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2EC70-1BBE-0B0F-CB2B-5511E3D7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Splitting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16DC4-304A-5F1E-F219-9E15D590C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preventing overfitting; gives realistic performance estimate; helps hyperparameter tunning; allows fair comparative analysis</a:t>
            </a:r>
          </a:p>
          <a:p>
            <a:r>
              <a:rPr lang="en-US" b="1" dirty="0"/>
              <a:t>Parts</a:t>
            </a:r>
            <a:r>
              <a:rPr lang="en-US" dirty="0"/>
              <a:t>: Training, Test, Validation (optional)</a:t>
            </a:r>
          </a:p>
          <a:p>
            <a:r>
              <a:rPr lang="en-US" b="1" dirty="0"/>
              <a:t>Common split ratio</a:t>
            </a:r>
            <a:r>
              <a:rPr lang="en-US" dirty="0"/>
              <a:t>: 80-20, 70-30, 60-20-20, 60-0-40 in CV</a:t>
            </a:r>
          </a:p>
          <a:p>
            <a:r>
              <a:rPr lang="en-US" b="1" dirty="0">
                <a:solidFill>
                  <a:srgbClr val="FF0000"/>
                </a:solidFill>
              </a:rPr>
              <a:t>Stratification</a:t>
            </a:r>
            <a:r>
              <a:rPr lang="en-US" dirty="0">
                <a:solidFill>
                  <a:srgbClr val="FF0000"/>
                </a:solidFill>
              </a:rPr>
              <a:t>: Ensures both sets contain a similar class distribution in case imbalanced dataset.</a:t>
            </a:r>
          </a:p>
          <a:p>
            <a:r>
              <a:rPr lang="en-US" b="1" dirty="0">
                <a:solidFill>
                  <a:srgbClr val="FF0000"/>
                </a:solidFill>
              </a:rPr>
              <a:t>K-Fold Cross-Validation: </a:t>
            </a:r>
            <a:r>
              <a:rPr lang="en-US" dirty="0">
                <a:solidFill>
                  <a:srgbClr val="FF0000"/>
                </a:solidFill>
              </a:rPr>
              <a:t>Instead of one split, the data is split into k equal parts, and the model is trained/tested k times, rotating the test set. It helps reducing variance. Also, used in model selection. </a:t>
            </a:r>
          </a:p>
        </p:txBody>
      </p:sp>
    </p:spTree>
    <p:extLst>
      <p:ext uri="{BB962C8B-B14F-4D97-AF65-F5344CB8AC3E}">
        <p14:creationId xmlns:p14="http://schemas.microsoft.com/office/powerpoint/2010/main" val="1987268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76E3-F1F8-2558-199B-EF09B125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Splitting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2D4BC-C1B4-82C8-27DC-B5C2BC725EAC}"/>
              </a:ext>
            </a:extLst>
          </p:cNvPr>
          <p:cNvSpPr txBox="1"/>
          <p:nvPr/>
        </p:nvSpPr>
        <p:spPr>
          <a:xfrm>
            <a:off x="838200" y="1892300"/>
            <a:ext cx="82105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Split into 80% train, 20% test</a:t>
            </a:r>
          </a:p>
          <a:p>
            <a:r>
              <a:rPr lang="en-US" dirty="0"/>
              <a:t>X_train,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(X,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With Stratification </a:t>
            </a:r>
          </a:p>
          <a:p>
            <a:r>
              <a:rPr lang="en-US" dirty="0" err="1">
                <a:solidFill>
                  <a:srgbClr val="FF0000"/>
                </a:solidFill>
              </a:rPr>
              <a:t>train_test_split</a:t>
            </a:r>
            <a:r>
              <a:rPr lang="en-US" dirty="0">
                <a:solidFill>
                  <a:srgbClr val="FF0000"/>
                </a:solidFill>
              </a:rPr>
              <a:t>(X, y, </a:t>
            </a:r>
            <a:r>
              <a:rPr lang="en-US" dirty="0" err="1">
                <a:solidFill>
                  <a:srgbClr val="FF0000"/>
                </a:solidFill>
              </a:rPr>
              <a:t>test_size</a:t>
            </a:r>
            <a:r>
              <a:rPr lang="en-US" dirty="0">
                <a:solidFill>
                  <a:srgbClr val="FF0000"/>
                </a:solidFill>
              </a:rPr>
              <a:t>=0.2, stratify=y)</a:t>
            </a:r>
          </a:p>
        </p:txBody>
      </p:sp>
    </p:spTree>
    <p:extLst>
      <p:ext uri="{BB962C8B-B14F-4D97-AF65-F5344CB8AC3E}">
        <p14:creationId xmlns:p14="http://schemas.microsoft.com/office/powerpoint/2010/main" val="30802959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4199-86F8-F537-8904-DED731AD5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Transformation </a:t>
            </a:r>
            <a:r>
              <a:rPr lang="en-US" dirty="0"/>
              <a:t>– Dealing with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C149A-6B5C-FCB9-B6A7-9067286FC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outlier</a:t>
            </a:r>
            <a:r>
              <a:rPr lang="en-US" dirty="0"/>
              <a:t> is a data point that is significantly </a:t>
            </a:r>
            <a:r>
              <a:rPr lang="en-US" b="1" dirty="0"/>
              <a:t>different</a:t>
            </a:r>
            <a:r>
              <a:rPr lang="en-US" dirty="0"/>
              <a:t> from the rest of the data.</a:t>
            </a:r>
          </a:p>
          <a:p>
            <a:pPr lvl="1"/>
            <a:r>
              <a:rPr lang="en-US" dirty="0"/>
              <a:t>Normal incomes: 25k, 30k, 32k, 29k</a:t>
            </a:r>
          </a:p>
          <a:p>
            <a:pPr marL="457200" lvl="1" indent="0">
              <a:buNone/>
            </a:pPr>
            <a:r>
              <a:rPr lang="en-US" dirty="0"/>
              <a:t>   Outlier: 200k</a:t>
            </a:r>
          </a:p>
          <a:p>
            <a:r>
              <a:rPr lang="en-US" b="1" dirty="0"/>
              <a:t>Problems</a:t>
            </a:r>
            <a:r>
              <a:rPr lang="en-US" dirty="0"/>
              <a:t>: distortion of mean, std, correlation; lead overfitting; affect scaling and normalization</a:t>
            </a:r>
          </a:p>
          <a:p>
            <a:r>
              <a:rPr lang="en-US" dirty="0"/>
              <a:t>Detection methods:</a:t>
            </a:r>
          </a:p>
          <a:p>
            <a:pPr lvl="1"/>
            <a:r>
              <a:rPr lang="en-US" dirty="0"/>
              <a:t>Z-Score method: if [ </a:t>
            </a:r>
            <a:r>
              <a:rPr lang="el-GR" dirty="0"/>
              <a:t>(</a:t>
            </a:r>
            <a:r>
              <a:rPr lang="en-US" dirty="0"/>
              <a:t>x−</a:t>
            </a:r>
            <a:r>
              <a:rPr lang="el-GR" dirty="0"/>
              <a:t>μ)</a:t>
            </a:r>
            <a:r>
              <a:rPr lang="en-US" dirty="0"/>
              <a:t> /</a:t>
            </a:r>
            <a:r>
              <a:rPr lang="el-GR" dirty="0"/>
              <a:t> σ </a:t>
            </a:r>
            <a:r>
              <a:rPr lang="en-US" dirty="0"/>
              <a:t>]</a:t>
            </a:r>
            <a:r>
              <a:rPr lang="el-GR" dirty="0"/>
              <a:t>​</a:t>
            </a:r>
            <a:r>
              <a:rPr lang="en-US" dirty="0"/>
              <a:t> &gt; 3 then its an outlier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Interquartile (IQR) method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Visual methods: Boxplot, Histogram, Scatter plot</a:t>
            </a:r>
          </a:p>
          <a:p>
            <a:r>
              <a:rPr lang="en-US" dirty="0"/>
              <a:t>Handling Outliers:</a:t>
            </a:r>
          </a:p>
          <a:p>
            <a:pPr lvl="1"/>
            <a:r>
              <a:rPr lang="en-US" dirty="0"/>
              <a:t>Remove outliers</a:t>
            </a:r>
          </a:p>
          <a:p>
            <a:pPr lvl="1"/>
            <a:r>
              <a:rPr lang="en-US" dirty="0"/>
              <a:t>Impute outlier with mean, median, mode, etc.</a:t>
            </a:r>
          </a:p>
          <a:p>
            <a:pPr lvl="1"/>
            <a:r>
              <a:rPr lang="en-US" dirty="0"/>
              <a:t>Data Transformation like log transform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15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19806</TotalTime>
  <Words>4061</Words>
  <Application>Microsoft Office PowerPoint</Application>
  <PresentationFormat>Widescreen</PresentationFormat>
  <Paragraphs>660</Paragraphs>
  <Slides>38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Machine Learning Data preparation and preprocessing</vt:lpstr>
      <vt:lpstr>Objectives </vt:lpstr>
      <vt:lpstr>Why Data Matters?</vt:lpstr>
      <vt:lpstr>Types of Data</vt:lpstr>
      <vt:lpstr>Data Repositories </vt:lpstr>
      <vt:lpstr>Data Preprocessing Steps</vt:lpstr>
      <vt:lpstr>Text Data Preprocessing</vt:lpstr>
      <vt:lpstr>Audio Data Preprocessing</vt:lpstr>
      <vt:lpstr>Image Data Preprocessing</vt:lpstr>
      <vt:lpstr>Video Data Preprocessing Pipeline</vt:lpstr>
      <vt:lpstr>Important Libraries </vt:lpstr>
      <vt:lpstr>Data Exploration</vt:lpstr>
      <vt:lpstr>Data Cleaning Pipeline</vt:lpstr>
      <vt:lpstr>Data Cleaning – Data Loading</vt:lpstr>
      <vt:lpstr>Data Cleaning – Data Inspection</vt:lpstr>
      <vt:lpstr>Data Cleaning – Data Inspection</vt:lpstr>
      <vt:lpstr>Data Cleaning – Handling Missing Values</vt:lpstr>
      <vt:lpstr>Data Cleaning – Handling Missing Values</vt:lpstr>
      <vt:lpstr>Exercise</vt:lpstr>
      <vt:lpstr>Exercise - Solution</vt:lpstr>
      <vt:lpstr>Data Cleaning – Fixing Types &amp; Formats</vt:lpstr>
      <vt:lpstr>Data Cleaning – Fixing Types &amp; Formats</vt:lpstr>
      <vt:lpstr>Data Cleaning – Dealing with Duplicates</vt:lpstr>
      <vt:lpstr>Data Cleaning – Dealing with Duplicates</vt:lpstr>
      <vt:lpstr>Data Cleaning – Cleaning Text</vt:lpstr>
      <vt:lpstr>Data Cleaning – Cleaning Text</vt:lpstr>
      <vt:lpstr>Data Transformation Steps</vt:lpstr>
      <vt:lpstr>Data Transformation – Scaling &amp; Normalization </vt:lpstr>
      <vt:lpstr>Exercise</vt:lpstr>
      <vt:lpstr>Data Transformation – Scaling &amp; Normalization </vt:lpstr>
      <vt:lpstr>Data Transformation – Encoding Categorical Data</vt:lpstr>
      <vt:lpstr>Data Transformation – Feature Engineering </vt:lpstr>
      <vt:lpstr>Data Transformation – Feature Engineering </vt:lpstr>
      <vt:lpstr>Data Transformation – Discretization</vt:lpstr>
      <vt:lpstr>Binning Example</vt:lpstr>
      <vt:lpstr>Data Splitting </vt:lpstr>
      <vt:lpstr>Data Splitting </vt:lpstr>
      <vt:lpstr>Data Transformation – Dealing with Outliers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Metaheuristic Evolutionary Algorithms &amp; Swarm Intelligence</dc:title>
  <dc:creator>Qamar Askari</dc:creator>
  <cp:lastModifiedBy>Muhammad Umer Ramzan</cp:lastModifiedBy>
  <cp:revision>299</cp:revision>
  <dcterms:created xsi:type="dcterms:W3CDTF">2018-04-19T05:29:09Z</dcterms:created>
  <dcterms:modified xsi:type="dcterms:W3CDTF">2026-04-10T05:57:30Z</dcterms:modified>
</cp:coreProperties>
</file>